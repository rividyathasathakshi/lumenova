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3" r:id="rId13"/>
    <p:sldId id="264" r:id="rId14"/>
    <p:sldId id="265" r:id="rId15"/>
    <p:sldId id="266" r:id="rId16"/>
    <p:sldId id="267" r:id="rId17"/>
    <p:sldId id="262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jHLEmAuNmAfCdM7AZ9L5tK7t1Sa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1" Type="http://schemas.openxmlformats.org/officeDocument/2006/relationships/slide" Target="slides/slide7.xml"/><Relationship Id="rId12" Type="http://customschemas.google.com/relationships/presentationmetadata" Target="metadata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Introduce yourself. Lumenova is a free web app: you point your phone at a urine or ovulation test strip and it gives an objective, private reading with plain-language guidance. It is a screening and wellness aid, not a diagnostic device.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Invite questions. If there is time, open the link on a phone and scan a strip live. Next steps: add a layout for Keto-Diastix strips, run a comparison against lab urinalysis, and broaden the training data and languages.</a:t>
            </a:r>
          </a:p>
        </p:txBody>
      </p:sp>
      <p:sp>
        <p:nvSpPr>
          <p:cNvPr id="118" name="Google Shape;118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Home urine and ovulation strips are cheap and sold everywhere, but people read them by eye. A 10-pad urine strip has dozens of similar shades, and the reading changes with lighting, colour vision and timing. On ovulation strips, the whole result is a judgement of whether the test line is as dark as the control line. Strips are thrown away, so trends are lost, and a worrying result rarely comes with a next step.</a:t>
            </a:r>
          </a:p>
          <a:p/>
          <a:p>
            <a:r>
              <a:t>The main users are women who already use home strips: those trying to conceive, those tracking their cycle, people with diabetes or kidney concerns, and pregnant women doing self-checks their doctor recommends. Because it is free and browser-based, it also suits rural and low-resource settings. Community health workers are a future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Lumenova turns the phone camera into an objective strip reader. The camera screen guides the user and captures automatically; here a 10-pad strip is detected at 34 degrees. The result screen shows the status with icon and text, counts per status, and the disclaimer on every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Step 3 is the only cloud step: the photo is sent to a YOLO26s model on Roboflow, which returns boxes around the pads. If it is off or offline, an on-device detector based on PCA does the same job. Colour reading, results and history never leave the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Clinical strip readers are separate machines. Lumenova runs in a phone browser, finds the strip at any angle, corrects the lighting using the strip's own white backing, and combines a trained detector with transparent colour science, so every reading can be explained. It also shows "unreadable" rather than guessing, and links a flagged result to nearby care.</a:t>
            </a:r>
          </a:p>
          <a:p/>
          <a:p>
            <a:r>
              <a:t>Model accuracy: 82.5% for the urine pad detector, 72.8% for the test-kit type detector and 78.6% for finding ovulation tests. Be clear that these numbers say the model finds the pads, not that the medical reading is correct. The next step is a comparison against lab urinalysis.</a:t>
            </a:r>
          </a:p>
          <a:p/>
          <a:p>
            <a:r>
              <a:t>Socially, objective home screening can prompt a doctor visit sooner and improves understanding of women's health. Economically, the app is free and each test costs only a cheap strip. Environmentally, it reuses phones people already own instead of a dedicated reader device, and most processing happens on the phone.</a:t>
            </a:r>
          </a:p>
          <a:p/>
          <a:p>
            <a:r>
              <a:t>Every software tool and service has a free tier, so the only real spend was test strips: 315 rupees for 50 Keto-Diastix strips, 590 for 50 ovulation strips and 50 for a 5-test ovulation kit. For users the app is free, so each test costs only the strip. The pilot estimate is driven by a lab study comparing Lumenova's readings with laboratory urinalysis.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Invite questions. If there is time, open the link on a phone and scan a strip live. Next steps: add a layout for Keto-Diastix strips, run a comparison against lab urinalysis, and broaden the training data and languages.</a:t>
            </a:r>
          </a:p>
          <a:p/>
          <a:p>
            <a:r>
              <a:t>Every software tool and service has a free tier, so the only real spend was test strips: 315 rupees for 50 Keto-Diastix strips, 590 for 50 ovulation strips and 50 for a 5-test ovulation kit. For users the app is free, so each test costs only the strip. The pilot estimate is driven by a lab study comparing Lumenova's readings with laboratory urinalysis.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0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723900" y="619125"/>
            <a:ext cx="7239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43D5E8"/>
                </a:solidFill>
                <a:latin typeface="Verdana"/>
                <a:ea typeface="Verdana"/>
                <a:cs typeface="Verdana"/>
                <a:sym typeface="Verdana"/>
              </a:rPr>
              <a:t>24-HOUR TECHNICAL HACKATHON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44725" y="1200288"/>
            <a:ext cx="7239000" cy="15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Verdana"/>
                <a:ea typeface="Verdana"/>
                <a:cs typeface="Verdana"/>
                <a:sym typeface="Verdana"/>
              </a:rPr>
              <a:t>Lumenova: Reading Home Urine and Ovulation Test Strips with a Phone Camera</a:t>
            </a:r>
            <a:endParaRPr sz="3600"/>
          </a:p>
        </p:txBody>
      </p:sp>
      <p:sp>
        <p:nvSpPr>
          <p:cNvPr id="18" name="Google Shape;18;p1"/>
          <p:cNvSpPr/>
          <p:nvPr/>
        </p:nvSpPr>
        <p:spPr>
          <a:xfrm>
            <a:off x="723900" y="3338525"/>
            <a:ext cx="6667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43D5E8"/>
                </a:solidFill>
                <a:latin typeface="Verdana"/>
                <a:ea typeface="Verdana"/>
                <a:cs typeface="Verdana"/>
                <a:sym typeface="Verdana"/>
              </a:rPr>
              <a:t>[Team name]</a:t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723900" y="3814913"/>
            <a:ext cx="6667500" cy="133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[Member 1]</a:t>
            </a:r>
            <a:endParaRPr b="1" sz="1875">
              <a:solidFill>
                <a:srgbClr val="D5E0E2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[Member 2]</a:t>
            </a:r>
            <a:endParaRPr b="1" sz="1875">
              <a:solidFill>
                <a:srgbClr val="D5E0E2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[Member 3]</a:t>
            </a:r>
            <a:endParaRPr b="1" sz="1875">
              <a:solidFill>
                <a:srgbClr val="D5E0E2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[Member 4]</a:t>
            </a:r>
            <a:endParaRPr b="1" sz="1875">
              <a:solidFill>
                <a:srgbClr val="D5E0E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23900" y="5337300"/>
            <a:ext cx="84201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[Institution]</a:t>
            </a:r>
            <a:endParaRPr/>
          </a:p>
        </p:txBody>
      </p:sp>
      <p:pic>
        <p:nvPicPr>
          <p:cNvPr id="21" name="Google Shape;2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62904" y="1089075"/>
            <a:ext cx="3476116" cy="32480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723900" y="5676900"/>
            <a:ext cx="10744200" cy="9525"/>
          </a:xfrm>
          <a:prstGeom prst="rect">
            <a:avLst/>
          </a:prstGeom>
          <a:solidFill>
            <a:srgbClr val="244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723900" y="5934075"/>
            <a:ext cx="1074420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AFC0C4"/>
                </a:solidFill>
                <a:latin typeface="Verdana"/>
                <a:ea typeface="Verdana"/>
                <a:cs typeface="Verdana"/>
                <a:sym typeface="Verdana"/>
              </a:rPr>
              <a:t>Organized by the ECE Department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AFC0C4"/>
                </a:solidFill>
                <a:latin typeface="Verdana"/>
                <a:ea typeface="Verdana"/>
                <a:cs typeface="Verdana"/>
                <a:sym typeface="Verdana"/>
              </a:rPr>
              <a:t>Vidyavardhaka College of Engineering, Mysuru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07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"/>
          <p:cNvSpPr/>
          <p:nvPr/>
        </p:nvSpPr>
        <p:spPr>
          <a:xfrm>
            <a:off x="723900" y="2562225"/>
            <a:ext cx="10744200" cy="1695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900">
                <a:solidFill>
                  <a:srgbClr val="43D5E8"/>
                </a:solidFill>
                <a:latin typeface="Verdana"/>
                <a:ea typeface="Verdana"/>
                <a:cs typeface="Verdana"/>
                <a:sym typeface="Verdana"/>
              </a:rPr>
              <a:t>THANK YOU</a:t>
            </a:r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722376" y="4023360"/>
            <a:ext cx="10744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5E0E2"/>
                </a:solidFill>
                <a:latin typeface="Verdana"/>
              </a:rPr>
              <a:t>Questions?  ·  rividyathasathakshi.github.io/demo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22376" y="5806440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AFC0C4"/>
                </a:solidFill>
                <a:latin typeface="Verdana"/>
              </a:rPr>
              <a:t>Lumenova is a screening and wellness aid, not a diagnostic device. Results may be affected by strip type, timing, lighting, camera quality, and other factors.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Problem Statement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02 / 07</a:t>
            </a:r>
          </a:p>
        </p:txBody>
      </p:sp>
      <p:sp>
        <p:nvSpPr>
          <p:cNvPr id="6" name="Lead"/>
          <p:cNvSpPr txBox="1"/>
          <p:nvPr/>
        </p:nvSpPr>
        <p:spPr>
          <a:xfrm>
            <a:off x="722376" y="1938528"/>
            <a:ext cx="10744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Home test strips are still read by eye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560320"/>
            <a:ext cx="5234940" cy="11887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788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43D5E8"/>
                </a:solidFill>
                <a:latin typeface="Verdan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2788920"/>
            <a:ext cx="38176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2242C"/>
                </a:solidFill>
                <a:latin typeface="Verdana"/>
              </a:rPr>
              <a:t>Colour charts are hard to match</a:t>
            </a:r>
          </a:p>
          <a:p>
            <a:pPr algn="l"/>
            <a:r>
              <a:rPr sz="1400" b="0">
                <a:solidFill>
                  <a:srgbClr val="63777F"/>
                </a:solidFill>
                <a:latin typeface="Verdana"/>
              </a:rPr>
              <a:t>Lighting, colour vision and timing change what the eye sees.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2560320"/>
            <a:ext cx="5234940" cy="11887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5" y="2788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43D5E8"/>
                </a:solidFill>
                <a:latin typeface="Verdan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4636" y="2788920"/>
            <a:ext cx="38176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2242C"/>
                </a:solidFill>
                <a:latin typeface="Verdana"/>
              </a:rPr>
              <a:t>Ovulation lines are hard to judge</a:t>
            </a:r>
          </a:p>
          <a:p>
            <a:pPr algn="l"/>
            <a:r>
              <a:rPr sz="1400" b="0">
                <a:solidFill>
                  <a:srgbClr val="63777F"/>
                </a:solidFill>
                <a:latin typeface="Verdana"/>
              </a:rPr>
              <a:t>Is the T line as dark as the C line? That guess is the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931920"/>
            <a:ext cx="5234940" cy="11887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43D5E8"/>
                </a:solidFill>
                <a:latin typeface="Verdan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5376" y="4160520"/>
            <a:ext cx="38176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2242C"/>
                </a:solidFill>
                <a:latin typeface="Verdana"/>
              </a:rPr>
              <a:t>Results are thrown away</a:t>
            </a:r>
          </a:p>
          <a:p>
            <a:pPr algn="l"/>
            <a:r>
              <a:rPr sz="1400" b="0">
                <a:solidFill>
                  <a:srgbClr val="63777F"/>
                </a:solidFill>
                <a:latin typeface="Verdana"/>
              </a:rPr>
              <a:t>No trend over days, and no link to the menstrual cycle.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931920"/>
            <a:ext cx="5234940" cy="11887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5955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43D5E8"/>
                </a:solidFill>
                <a:latin typeface="Verdan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4636" y="4160520"/>
            <a:ext cx="38176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2242C"/>
                </a:solidFill>
                <a:latin typeface="Verdana"/>
              </a:rPr>
              <a:t>No next step, no privacy</a:t>
            </a:r>
          </a:p>
          <a:p>
            <a:pPr algn="l"/>
            <a:r>
              <a:rPr sz="1400" b="0">
                <a:solidFill>
                  <a:srgbClr val="63777F"/>
                </a:solidFill>
                <a:latin typeface="Verdana"/>
              </a:rPr>
              <a:t>Little guidance after a worrying result; most apps need an account.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5303520"/>
            <a:ext cx="10744200" cy="777240"/>
          </a:xfrm>
          <a:prstGeom prst="roundRect">
            <a:avLst>
              <a:gd name="adj" fmla="val 6000"/>
            </a:avLst>
          </a:prstGeom>
          <a:solidFill>
            <a:srgbClr val="03070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5303520"/>
            <a:ext cx="10195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43D5E8"/>
                </a:solidFill>
                <a:latin typeface="Verdana"/>
              </a:rPr>
              <a:t>Who is affected?  </a:t>
            </a:r>
            <a:r>
              <a:rPr sz="1300" b="0">
                <a:solidFill>
                  <a:srgbClr val="D5E0E2"/>
                </a:solidFill>
                <a:latin typeface="Verdana"/>
              </a:rPr>
              <a:t>Women who test at home: trying to conceive, tracking their cycle, living with diabetes or kidney concerns, doing antenatal self-checks, or in rural, low-resource areas far from labs.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Proposed Solution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   ·   Screens from the working prototype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03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6400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What is your solution?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450592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Point a phone at the strip and get an objective reading of home urine and ovulation tests.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91840"/>
            <a:ext cx="6400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How does it help?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30752"/>
            <a:ext cx="6400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B"/>
                </a:solidFill>
                <a:latin typeface="Verdana"/>
              </a:rPr>
              <a:t>1.  </a:t>
            </a:r>
            <a:r>
              <a:rPr sz="1600" b="0">
                <a:solidFill>
                  <a:srgbClr val="63777F"/>
                </a:solidFill>
                <a:latin typeface="Verdana"/>
              </a:rPr>
              <a:t>Live guidance frames the strip and captures it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B"/>
                </a:solidFill>
                <a:latin typeface="Verdana"/>
              </a:rPr>
              <a:t>2.  </a:t>
            </a:r>
            <a:r>
              <a:rPr sz="1600" b="0">
                <a:solidFill>
                  <a:srgbClr val="63777F"/>
                </a:solidFill>
                <a:latin typeface="Verdana"/>
              </a:rPr>
              <a:t>AI finds the pads; colour science reads them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B"/>
                </a:solidFill>
                <a:latin typeface="Verdana"/>
              </a:rPr>
              <a:t>3.  </a:t>
            </a:r>
            <a:r>
              <a:rPr sz="1600" b="0">
                <a:solidFill>
                  <a:srgbClr val="63777F"/>
                </a:solidFill>
                <a:latin typeface="Verdana"/>
              </a:rPr>
              <a:t>Plain-language result, never a diagnosis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B"/>
                </a:solidFill>
                <a:latin typeface="Verdana"/>
              </a:rPr>
              <a:t>4.  </a:t>
            </a:r>
            <a:r>
              <a:rPr sz="1600" b="0">
                <a:solidFill>
                  <a:srgbClr val="63777F"/>
                </a:solidFill>
                <a:latin typeface="Verdana"/>
              </a:rPr>
              <a:t>Saved privately, with trends and a cycle calendar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5303520"/>
            <a:ext cx="6400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What is the core idea?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5669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Works in any phone browser. No app install, no account.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011680"/>
            <a:ext cx="3968496" cy="402336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Camera screen: a rotated 10-pad urine strip detected, with the message Ready to capture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2212848"/>
            <a:ext cx="1668996" cy="3611880"/>
          </a:xfrm>
          <a:prstGeom prst="rect">
            <a:avLst/>
          </a:prstGeom>
        </p:spPr>
      </p:pic>
      <p:pic>
        <p:nvPicPr>
          <p:cNvPr id="14" name="Result screen: Borderline status, 7 normal and 3 borderline parameters" descr="image-3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9996" y="2212848"/>
            <a:ext cx="1668996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How It Works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04 / 07</a:t>
            </a:r>
          </a:p>
        </p:txBody>
      </p:sp>
      <p:sp>
        <p:nvSpPr>
          <p:cNvPr id="6" name="Lead"/>
          <p:cNvSpPr txBox="1"/>
          <p:nvPr/>
        </p:nvSpPr>
        <p:spPr>
          <a:xfrm>
            <a:off x="722376" y="1938528"/>
            <a:ext cx="10744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One scan, six steps, mostly on the phone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Camera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Live guidance and auto-capture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355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814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814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Quality check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Rejects blur, glare, darkness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473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03070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932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32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Find the pads</a:t>
            </a:r>
          </a:p>
          <a:p>
            <a:pPr algn="l"/>
            <a:r>
              <a:rPr sz="1200" b="0">
                <a:solidFill>
                  <a:srgbClr val="D5E0E2"/>
                </a:solidFill>
                <a:latin typeface="Verdana"/>
              </a:rPr>
              <a:t>YOLO26s AI model (cloud), or on-device detector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0507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507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Read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CIEDE2000 colour match; T/C line ratio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709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168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168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Result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Plain-language screening guidance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827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286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286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Save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Trends and calendar, on the phone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6" y="4983480"/>
            <a:ext cx="10744200" cy="86868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3544" y="5138928"/>
            <a:ext cx="566928" cy="566928"/>
          </a:xfrm>
          <a:prstGeom prst="ellipse">
            <a:avLst/>
          </a:prstGeom>
          <a:solidFill>
            <a:srgbClr val="1224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Icon image-4-1.pn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606" y="5274990"/>
            <a:ext cx="294802" cy="29480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82496" y="4983480"/>
            <a:ext cx="9555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2242C"/>
                </a:solidFill>
                <a:latin typeface="Verdana"/>
              </a:rPr>
              <a:t>Only the photo goes to the AI model. Colour reading and storage stay on the phone, and the model can be switched off.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Innovation &amp; Impact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05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6675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What makes it innovative?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450592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No reader device: </a:t>
            </a:r>
            <a:r>
              <a:rPr sz="1300" b="0">
                <a:solidFill>
                  <a:srgbClr val="63777F"/>
                </a:solidFill>
                <a:latin typeface="Verdana"/>
              </a:rPr>
              <a:t>uses the phone people already own, in a browser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Any angle, any background: </a:t>
            </a:r>
            <a:r>
              <a:rPr sz="1300" b="0">
                <a:solidFill>
                  <a:srgbClr val="63777F"/>
                </a:solidFill>
                <a:latin typeface="Verdana"/>
              </a:rPr>
              <a:t>PCA finds the strip; no calibration card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Self-calibrating colour: </a:t>
            </a:r>
            <a:r>
              <a:rPr sz="1300" b="0">
                <a:solidFill>
                  <a:srgbClr val="63777F"/>
                </a:solidFill>
                <a:latin typeface="Verdana"/>
              </a:rPr>
              <a:t>each pad is white-balanced against the strip's own backing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Explainable hybrid AI: </a:t>
            </a:r>
            <a:r>
              <a:rPr sz="1300" b="0">
                <a:solidFill>
                  <a:srgbClr val="63777F"/>
                </a:solidFill>
                <a:latin typeface="Verdana"/>
              </a:rPr>
              <a:t>YOLO26s finds the pads; CIEDE2000 colour science reads them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Honest about uncertainty: </a:t>
            </a:r>
            <a:r>
              <a:rPr sz="1300" b="0">
                <a:solidFill>
                  <a:srgbClr val="63777F"/>
                </a:solidFill>
                <a:latin typeface="Verdana"/>
              </a:rPr>
              <a:t>per-pad confidence, and "unreadable" instead of a guess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From result to care: </a:t>
            </a:r>
            <a:r>
              <a:rPr sz="1300" b="0">
                <a:solidFill>
                  <a:srgbClr val="63777F"/>
                </a:solidFill>
                <a:latin typeface="Verdana"/>
              </a:rPr>
              <a:t>a map of nearby clinics, hospitals and pharmacies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4754880"/>
            <a:ext cx="6675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What impact could it create?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5175504"/>
            <a:ext cx="6675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Social: </a:t>
            </a:r>
            <a:r>
              <a:rPr sz="1300" b="0">
                <a:solidFill>
                  <a:srgbClr val="63777F"/>
                </a:solidFill>
                <a:latin typeface="Verdana"/>
              </a:rPr>
              <a:t>earlier doctor visits when a result is flagged; private testing at home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Economic: </a:t>
            </a:r>
            <a:r>
              <a:rPr sz="1300" b="0">
                <a:solidFill>
                  <a:srgbClr val="63777F"/>
                </a:solidFill>
                <a:latin typeface="Verdana"/>
              </a:rPr>
              <a:t>free app; a test costs only the strip (₹6.30 urine, ₹10–12 ovulation)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Environmental: </a:t>
            </a:r>
            <a:r>
              <a:rPr sz="1300" b="0">
                <a:solidFill>
                  <a:srgbClr val="63777F"/>
                </a:solidFill>
                <a:latin typeface="Verdana"/>
              </a:rPr>
              <a:t>no extra hardware, paperless records, no always-on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2011680"/>
            <a:ext cx="3739896" cy="4069080"/>
          </a:xfrm>
          <a:prstGeom prst="roundRect">
            <a:avLst>
              <a:gd name="adj" fmla="val 6000"/>
            </a:avLst>
          </a:prstGeom>
          <a:solidFill>
            <a:srgbClr val="03070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176272"/>
            <a:ext cx="31912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FC0C4"/>
                </a:solidFill>
                <a:latin typeface="Verdana"/>
              </a:rPr>
              <a:t>AI MODEL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560320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43D5E8"/>
                </a:solidFill>
                <a:latin typeface="Verdana"/>
              </a:rPr>
              <a:t>82.5%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19" y="2578608"/>
            <a:ext cx="1636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Verdana"/>
              </a:rPr>
              <a:t>Urine pad detector</a:t>
            </a:r>
          </a:p>
          <a:p>
            <a:pPr algn="l"/>
            <a:r>
              <a:rPr sz="1000" b="0">
                <a:solidFill>
                  <a:srgbClr val="D5E0E2"/>
                </a:solidFill>
                <a:latin typeface="Verdana"/>
              </a:rPr>
              <a:t>Finds the pads on a urine 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547872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43D5E8"/>
                </a:solidFill>
                <a:latin typeface="Verdana"/>
              </a:rPr>
              <a:t>72.8%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566160"/>
            <a:ext cx="1636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Verdana"/>
              </a:rPr>
              <a:t>Test-kit type detector</a:t>
            </a:r>
          </a:p>
          <a:p>
            <a:pPr algn="l"/>
            <a:r>
              <a:rPr sz="1000" b="0">
                <a:solidFill>
                  <a:srgbClr val="D5E0E2"/>
                </a:solidFill>
                <a:latin typeface="Verdana"/>
              </a:rPr>
              <a:t>Recognises which kind of test kit is in the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535424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43D5E8"/>
                </a:solidFill>
                <a:latin typeface="Verdana"/>
              </a:rPr>
              <a:t>78.6%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19" y="4553712"/>
            <a:ext cx="1636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Verdana"/>
              </a:rPr>
              <a:t>Ovulation tests found</a:t>
            </a:r>
          </a:p>
          <a:p>
            <a:pPr algn="l"/>
            <a:r>
              <a:rPr sz="1000" b="0">
                <a:solidFill>
                  <a:srgbClr val="D5E0E2"/>
                </a:solidFill>
                <a:latin typeface="Verdana"/>
              </a:rPr>
              <a:t>Finds ovulation (LH) tests in the photo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53212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FC0C4"/>
                </a:solidFill>
                <a:latin typeface="Verdana"/>
              </a:rPr>
              <a:t>Detection accuracy, not clinical accuracy.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Future Scope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06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48840"/>
            <a:ext cx="43342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Next strip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0952" y="2148840"/>
            <a:ext cx="61356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Support Keto-Diastix strips (glucose and ketones)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2880360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017520"/>
            <a:ext cx="43342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Clinical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0952" y="3017520"/>
            <a:ext cx="61356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Compare readings with lab urinalysis (about 200 samples); pilot year about ₹22,000 to ₹1,67,000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" y="3749039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3886200"/>
            <a:ext cx="43342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Ways to expand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886200"/>
            <a:ext cx="61356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More training images, strip brands and languages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4617720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4754879"/>
            <a:ext cx="43342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Future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4754879"/>
            <a:ext cx="61356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Consistent strip readings for community health workers on field visits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5669280"/>
            <a:ext cx="10744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2C"/>
                </a:solidFill>
                <a:latin typeface="Verdana"/>
              </a:rPr>
              <a:t>Try it: </a:t>
            </a:r>
            <a:r>
              <a:rPr sz="1400" b="1">
                <a:solidFill>
                  <a:srgbClr val="0E7C8B"/>
                </a:solidFill>
                <a:latin typeface="Verdana"/>
              </a:rPr>
              <a:t>rividyathasathakshi.github.io/demo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