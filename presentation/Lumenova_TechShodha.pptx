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63" r:id="rId13"/>
    <p:sldId id="264" r:id="rId14"/>
    <p:sldId id="265" r:id="rId15"/>
    <p:sldId id="266" r:id="rId16"/>
    <p:sldId id="267" r:id="rId17"/>
    <p:sldId id="262" r:id="rId11"/>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12" roundtripDataSignature="AMtx7mjHLEmAuNmAfCdM7AZ9L5tK7t1Sa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11" Type="http://schemas.openxmlformats.org/officeDocument/2006/relationships/slide" Target="slides/slide7.xml"/><Relationship Id="rId12" Type="http://customschemas.google.com/relationships/presentationmetadata" Target="metadata"/><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lvl1pPr>
            <a:lvl2pPr indent="-228600" lvl="1" marL="914400">
              <a:spcBef>
                <a:spcPts val="0"/>
              </a:spcBef>
              <a:spcAft>
                <a:spcPts val="0"/>
              </a:spcAft>
              <a:buSzPts val="1400"/>
              <a:buNone/>
              <a:defRPr sz="1800"/>
            </a:lvl2pPr>
            <a:lvl3pPr indent="-228600" lvl="2" marL="1371600">
              <a:spcBef>
                <a:spcPts val="0"/>
              </a:spcBef>
              <a:spcAft>
                <a:spcPts val="0"/>
              </a:spcAft>
              <a:buSzPts val="1400"/>
              <a:buNone/>
              <a:defRPr sz="1800"/>
            </a:lvl3pPr>
            <a:lvl4pPr indent="-228600" lvl="3" marL="1828800">
              <a:spcBef>
                <a:spcPts val="0"/>
              </a:spcBef>
              <a:spcAft>
                <a:spcPts val="0"/>
              </a:spcAft>
              <a:buSzPts val="1400"/>
              <a:buNone/>
              <a:defRPr sz="1800"/>
            </a:lvl4pPr>
            <a:lvl5pPr indent="-228600" lvl="4" marL="2286000">
              <a:spcBef>
                <a:spcPts val="0"/>
              </a:spcBef>
              <a:spcAft>
                <a:spcPts val="0"/>
              </a:spcAft>
              <a:buSzPts val="1400"/>
              <a:buNone/>
              <a:defRPr sz="1800"/>
            </a:lvl5pPr>
            <a:lvl6pPr indent="-228600" lvl="5" marL="2743200">
              <a:spcBef>
                <a:spcPts val="0"/>
              </a:spcBef>
              <a:spcAft>
                <a:spcPts val="0"/>
              </a:spcAft>
              <a:buSzPts val="1400"/>
              <a:buNone/>
              <a:defRPr sz="1800"/>
            </a:lvl6pPr>
            <a:lvl7pPr indent="-228600" lvl="6" marL="3200400">
              <a:spcBef>
                <a:spcPts val="0"/>
              </a:spcBef>
              <a:spcAft>
                <a:spcPts val="0"/>
              </a:spcAft>
              <a:buSzPts val="1400"/>
              <a:buNone/>
              <a:defRPr sz="1800"/>
            </a:lvl7pPr>
            <a:lvl8pPr indent="-228600" lvl="7" marL="3657600">
              <a:spcBef>
                <a:spcPts val="0"/>
              </a:spcBef>
              <a:spcAft>
                <a:spcPts val="0"/>
              </a:spcAft>
              <a:buSzPts val="1400"/>
              <a:buNone/>
              <a:defRPr sz="1800"/>
            </a:lvl8pPr>
            <a:lvl9pPr indent="-228600" lvl="8" marL="4114800">
              <a:spcBef>
                <a:spcPts val="0"/>
              </a:spcBef>
              <a:spcAft>
                <a:spcPts val="0"/>
              </a:spcAft>
              <a:buSzPts val="1400"/>
              <a:buNone/>
              <a:defRPr sz="1800"/>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 name="Google Shape;13;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Introduce yourself. Lumenova is a free web app: you point your phone at a urine or ovulation test strip and it gives an objective, private reading with plain-language guidance. It is a screening and wellness aid, not a diagnostic device.</a:t>
            </a:r>
          </a:p>
        </p:txBody>
      </p:sp>
      <p:sp>
        <p:nvSpPr>
          <p:cNvPr id="14" name="Google Shape;14;p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7" name="Google Shape;117;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Invite questions. If there is time, open the link on a phone and scan a strip live. Next steps: add a layout for Keto-Diastix strips, run a comparison against lab urinalysis, and broaden the training data and languages.</a:t>
            </a:r>
          </a:p>
        </p:txBody>
      </p:sp>
      <p:sp>
        <p:nvSpPr>
          <p:cNvPr id="118" name="Google Shape;118;p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Home urine and ovulation strips are cheap and sold everywhere, but people read them by eye. A 10-pad urine strip has dozens of similar shades, and the reading changes with lighting, colour vision and timing. On ovulation strips, the whole result is a judgement of whether the test line is as dark as the control line. Strips are thrown away, so trends are lost, and a worrying result rarely comes with a next step.</a:t>
            </a:r>
          </a:p>
          <a:p/>
          <a:p>
            <a:r>
              <a:t>The main users are women who already use home strips: those trying to conceive, those tracking their cycle, people with diabetes or kidney concerns, and pregnant women doing self-checks their doctor recommends. Because it is free and browser-based, it also suits rural and low-resource settings. Community health workers are a future group.</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Lumenova turns the phone camera into an objective strip reader. The camera screen guides the user and captures automatically; here a 10-pad strip is detected at 34 degrees. The result screen shows the status with icon and text, counts per status, and the disclaimer on every result.</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Step 3 is the only cloud step: the photo is sent to a YOLO26s model on Roboflow, which returns boxes around the pads. If it is off or offline, an on-device detector based on PCA does the same job. Colour reading, results and history never leave the phone.</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Clinical strip readers are separate machines. Lumenova runs in a phone browser, finds the strip at any angle, corrects the lighting using the strip's own white backing, and combines a trained detector with transparent colour science, so every reading can be explained. It also shows "unreadable" rather than guessing, and links a flagged result to nearby care.</a:t>
            </a:r>
          </a:p>
          <a:p/>
          <a:p>
            <a:r>
              <a:t>Model accuracy: 82.5% for the urine pad detector, 72.8% for the test-kit type detector and 78.6% for finding ovulation tests. mAP at 50 means a detection counts when its box overlaps the true box by at least half. Be clear that these numbers say the model finds the pads, not that the medical reading is correct. The next step is a comparison against lab urinalysis.</a:t>
            </a:r>
          </a:p>
          <a:p/>
          <a:p>
            <a:r>
              <a:t>Socially, objective home screening can prompt a doctor visit sooner and improves understanding of women's health. Economically, the app is free and each test costs only a cheap strip. Environmentally, it reuses phones people already own instead of a dedicated reader device, and most processing happens on the phone.</a:t>
            </a:r>
          </a:p>
          <a:p/>
          <a:p>
            <a:r>
              <a:t>Every software tool and service has a free tier, so the only real spend was test strips: 315 rupees for 50 Keto-Diastix strips, 590 for 50 ovulation strips and 50 for a 5-test ovulation kit. For users the app is free, so each test costs only the strip. The pilot estimate is driven by a lab study comparing Lumenova's readings with laboratory urinalysis.</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Invite questions. If there is time, open the link on a phone and scan a strip live. Next steps: add a layout for Keto-Diastix strips, run a comparison against lab urinalysis, and broaden the training data and languages.</a:t>
            </a:r>
          </a:p>
          <a:p/>
          <a:p>
            <a:r>
              <a:t>Every software tool and service has a free tier, so the only real spend was test strips: 315 rupees for 50 Keto-Diastix strips, 590 for 50 ovulation strips and 50 for a 5-test ovulation kit. For users the app is free, so each test costs only the strip. The pilot estimate is driven by a lab study comparing Lumenova's readings with laboratory urinalysis.</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30707"/>
        </a:solidFill>
      </p:bgPr>
    </p:bg>
    <p:spTree>
      <p:nvGrpSpPr>
        <p:cNvPr id="15" name="Shape 15"/>
        <p:cNvGrpSpPr/>
        <p:nvPr/>
      </p:nvGrpSpPr>
      <p:grpSpPr>
        <a:xfrm>
          <a:off x="0" y="0"/>
          <a:ext cx="0" cy="0"/>
          <a:chOff x="0" y="0"/>
          <a:chExt cx="0" cy="0"/>
        </a:xfrm>
      </p:grpSpPr>
      <p:sp>
        <p:nvSpPr>
          <p:cNvPr id="16" name="Google Shape;16;p1"/>
          <p:cNvSpPr/>
          <p:nvPr/>
        </p:nvSpPr>
        <p:spPr>
          <a:xfrm>
            <a:off x="723900" y="619125"/>
            <a:ext cx="7239000" cy="2857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350">
                <a:solidFill>
                  <a:srgbClr val="43D5E8"/>
                </a:solidFill>
                <a:latin typeface="Verdana"/>
                <a:ea typeface="Verdana"/>
                <a:cs typeface="Verdana"/>
                <a:sym typeface="Verdana"/>
              </a:rPr>
              <a:t>24-HOUR TECHNICAL HACKATHON</a:t>
            </a:r>
            <a:endParaRPr/>
          </a:p>
        </p:txBody>
      </p:sp>
      <p:sp>
        <p:nvSpPr>
          <p:cNvPr id="17" name="Google Shape;17;p1"/>
          <p:cNvSpPr/>
          <p:nvPr/>
        </p:nvSpPr>
        <p:spPr>
          <a:xfrm>
            <a:off x="644725" y="1200288"/>
            <a:ext cx="7239000" cy="15813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3600">
                <a:solidFill>
                  <a:srgbClr val="FFFFFF"/>
                </a:solidFill>
                <a:latin typeface="Verdana"/>
                <a:ea typeface="Verdana"/>
                <a:cs typeface="Verdana"/>
                <a:sym typeface="Verdana"/>
              </a:rPr>
              <a:t>Lumenova: Reading Home Urine and Ovulation Test Strips with a Phone Camera</a:t>
            </a:r>
            <a:endParaRPr sz="3600"/>
          </a:p>
        </p:txBody>
      </p:sp>
      <p:sp>
        <p:nvSpPr>
          <p:cNvPr id="18" name="Google Shape;18;p1"/>
          <p:cNvSpPr/>
          <p:nvPr/>
        </p:nvSpPr>
        <p:spPr>
          <a:xfrm>
            <a:off x="723900" y="3338525"/>
            <a:ext cx="6667500" cy="476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2400">
                <a:solidFill>
                  <a:srgbClr val="43D5E8"/>
                </a:solidFill>
                <a:latin typeface="Verdana"/>
                <a:ea typeface="Verdana"/>
                <a:cs typeface="Verdana"/>
                <a:sym typeface="Verdana"/>
              </a:rPr>
              <a:t>[Team name]</a:t>
            </a:r>
            <a:endParaRPr/>
          </a:p>
        </p:txBody>
      </p:sp>
      <p:sp>
        <p:nvSpPr>
          <p:cNvPr id="19" name="Google Shape;19;p1"/>
          <p:cNvSpPr/>
          <p:nvPr/>
        </p:nvSpPr>
        <p:spPr>
          <a:xfrm>
            <a:off x="723900" y="3814913"/>
            <a:ext cx="6667500" cy="1336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75">
                <a:solidFill>
                  <a:srgbClr val="D5E0E2"/>
                </a:solidFill>
                <a:latin typeface="Verdana"/>
                <a:ea typeface="Verdana"/>
                <a:cs typeface="Verdana"/>
                <a:sym typeface="Verdana"/>
              </a:rPr>
              <a:t>[Member 1]</a:t>
            </a:r>
            <a:endParaRPr b="1" sz="1875">
              <a:solidFill>
                <a:srgbClr val="D5E0E2"/>
              </a:solidFill>
              <a:latin typeface="Verdana"/>
              <a:ea typeface="Verdana"/>
              <a:cs typeface="Verdana"/>
              <a:sym typeface="Verdana"/>
            </a:endParaRPr>
          </a:p>
          <a:p>
            <a:pPr indent="0" lvl="0" marL="0" marR="0" rtl="0" algn="l">
              <a:spcBef>
                <a:spcPts val="0"/>
              </a:spcBef>
              <a:spcAft>
                <a:spcPts val="0"/>
              </a:spcAft>
              <a:buNone/>
            </a:pPr>
            <a:r>
              <a:rPr b="1" lang="en-US" sz="1875">
                <a:solidFill>
                  <a:srgbClr val="D5E0E2"/>
                </a:solidFill>
                <a:latin typeface="Verdana"/>
                <a:ea typeface="Verdana"/>
                <a:cs typeface="Verdana"/>
                <a:sym typeface="Verdana"/>
              </a:rPr>
              <a:t>[Member 2]</a:t>
            </a:r>
            <a:endParaRPr b="1" sz="1875">
              <a:solidFill>
                <a:srgbClr val="D5E0E2"/>
              </a:solidFill>
              <a:latin typeface="Verdana"/>
              <a:ea typeface="Verdana"/>
              <a:cs typeface="Verdana"/>
              <a:sym typeface="Verdana"/>
            </a:endParaRPr>
          </a:p>
          <a:p>
            <a:pPr indent="0" lvl="0" marL="0" marR="0" rtl="0" algn="l">
              <a:spcBef>
                <a:spcPts val="0"/>
              </a:spcBef>
              <a:spcAft>
                <a:spcPts val="0"/>
              </a:spcAft>
              <a:buNone/>
            </a:pPr>
            <a:r>
              <a:rPr b="1" lang="en-US" sz="1875">
                <a:solidFill>
                  <a:srgbClr val="D5E0E2"/>
                </a:solidFill>
                <a:latin typeface="Verdana"/>
                <a:ea typeface="Verdana"/>
                <a:cs typeface="Verdana"/>
                <a:sym typeface="Verdana"/>
              </a:rPr>
              <a:t>[Member 3]</a:t>
            </a:r>
            <a:endParaRPr b="1" sz="1875">
              <a:solidFill>
                <a:srgbClr val="D5E0E2"/>
              </a:solidFill>
              <a:latin typeface="Verdana"/>
              <a:ea typeface="Verdana"/>
              <a:cs typeface="Verdana"/>
              <a:sym typeface="Verdana"/>
            </a:endParaRPr>
          </a:p>
          <a:p>
            <a:pPr indent="0" lvl="0" marL="0" marR="0" rtl="0" algn="l">
              <a:spcBef>
                <a:spcPts val="0"/>
              </a:spcBef>
              <a:spcAft>
                <a:spcPts val="0"/>
              </a:spcAft>
              <a:buNone/>
            </a:pPr>
            <a:r>
              <a:rPr b="1" lang="en-US" sz="1875">
                <a:solidFill>
                  <a:srgbClr val="D5E0E2"/>
                </a:solidFill>
                <a:latin typeface="Verdana"/>
                <a:ea typeface="Verdana"/>
                <a:cs typeface="Verdana"/>
                <a:sym typeface="Verdana"/>
              </a:rPr>
              <a:t>[Member 4]</a:t>
            </a:r>
            <a:endParaRPr b="1" sz="1875">
              <a:solidFill>
                <a:srgbClr val="D5E0E2"/>
              </a:solidFill>
              <a:latin typeface="Verdana"/>
              <a:ea typeface="Verdana"/>
              <a:cs typeface="Verdana"/>
              <a:sym typeface="Verdana"/>
            </a:endParaRPr>
          </a:p>
        </p:txBody>
      </p:sp>
      <p:sp>
        <p:nvSpPr>
          <p:cNvPr id="20" name="Google Shape;20;p1"/>
          <p:cNvSpPr/>
          <p:nvPr/>
        </p:nvSpPr>
        <p:spPr>
          <a:xfrm>
            <a:off x="723900" y="5337300"/>
            <a:ext cx="8420100" cy="428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1875">
                <a:solidFill>
                  <a:srgbClr val="D5E0E2"/>
                </a:solidFill>
                <a:latin typeface="Verdana"/>
                <a:ea typeface="Verdana"/>
                <a:cs typeface="Verdana"/>
                <a:sym typeface="Verdana"/>
              </a:rPr>
              <a:t>[Institution]</a:t>
            </a:r>
            <a:endParaRPr/>
          </a:p>
        </p:txBody>
      </p:sp>
      <p:pic>
        <p:nvPicPr>
          <p:cNvPr id="21" name="Google Shape;21;p1"/>
          <p:cNvPicPr preferRelativeResize="0"/>
          <p:nvPr/>
        </p:nvPicPr>
        <p:blipFill rotWithShape="1">
          <a:blip r:embed="rId3">
            <a:alphaModFix/>
          </a:blip>
          <a:srcRect b="0" l="0" r="0" t="0"/>
          <a:stretch/>
        </p:blipFill>
        <p:spPr>
          <a:xfrm>
            <a:off x="7962904" y="1089075"/>
            <a:ext cx="3476116" cy="3248025"/>
          </a:xfrm>
          <a:prstGeom prst="rect">
            <a:avLst/>
          </a:prstGeom>
          <a:noFill/>
          <a:ln>
            <a:noFill/>
          </a:ln>
        </p:spPr>
      </p:pic>
      <p:sp>
        <p:nvSpPr>
          <p:cNvPr id="22" name="Google Shape;22;p1"/>
          <p:cNvSpPr/>
          <p:nvPr/>
        </p:nvSpPr>
        <p:spPr>
          <a:xfrm>
            <a:off x="723900" y="5676900"/>
            <a:ext cx="10744200" cy="9525"/>
          </a:xfrm>
          <a:prstGeom prst="rect">
            <a:avLst/>
          </a:prstGeom>
          <a:solidFill>
            <a:srgbClr val="2440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 name="Google Shape;23;p1"/>
          <p:cNvSpPr/>
          <p:nvPr/>
        </p:nvSpPr>
        <p:spPr>
          <a:xfrm>
            <a:off x="723900" y="5934075"/>
            <a:ext cx="10744200" cy="6000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425">
                <a:solidFill>
                  <a:srgbClr val="AFC0C4"/>
                </a:solidFill>
                <a:latin typeface="Verdana"/>
                <a:ea typeface="Verdana"/>
                <a:cs typeface="Verdana"/>
                <a:sym typeface="Verdana"/>
              </a:rPr>
              <a:t>Organized by the ECE Department</a:t>
            </a:r>
            <a:endParaRPr/>
          </a:p>
          <a:p>
            <a:pPr indent="0" lvl="0" marL="0" marR="0" rtl="0" algn="l">
              <a:spcBef>
                <a:spcPts val="0"/>
              </a:spcBef>
              <a:spcAft>
                <a:spcPts val="0"/>
              </a:spcAft>
              <a:buNone/>
            </a:pPr>
            <a:r>
              <a:rPr b="0" lang="en-US" sz="1425">
                <a:solidFill>
                  <a:srgbClr val="AFC0C4"/>
                </a:solidFill>
                <a:latin typeface="Verdana"/>
                <a:ea typeface="Verdana"/>
                <a:cs typeface="Verdana"/>
                <a:sym typeface="Verdana"/>
              </a:rPr>
              <a:t>Vidyavardhaka College of Engineering, Mysuru</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30707"/>
        </a:solidFill>
      </p:bgPr>
    </p:bg>
    <p:spTree>
      <p:nvGrpSpPr>
        <p:cNvPr id="119" name="Shape 119"/>
        <p:cNvGrpSpPr/>
        <p:nvPr/>
      </p:nvGrpSpPr>
      <p:grpSpPr>
        <a:xfrm>
          <a:off x="0" y="0"/>
          <a:ext cx="0" cy="0"/>
          <a:chOff x="0" y="0"/>
          <a:chExt cx="0" cy="0"/>
        </a:xfrm>
      </p:grpSpPr>
      <p:sp>
        <p:nvSpPr>
          <p:cNvPr id="120" name="Google Shape;120;p7"/>
          <p:cNvSpPr/>
          <p:nvPr/>
        </p:nvSpPr>
        <p:spPr>
          <a:xfrm>
            <a:off x="723900" y="2562225"/>
            <a:ext cx="10744200" cy="169545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lang="en-US" sz="9900">
                <a:solidFill>
                  <a:srgbClr val="43D5E8"/>
                </a:solidFill>
                <a:latin typeface="Verdana"/>
                <a:ea typeface="Verdana"/>
                <a:cs typeface="Verdana"/>
                <a:sym typeface="Verdana"/>
              </a:rPr>
              <a:t>THANK YOU</a:t>
            </a:r>
            <a:endParaRPr/>
          </a:p>
        </p:txBody>
      </p:sp>
      <p:sp>
        <p:nvSpPr>
          <p:cNvPr id="121" name="TextBox 120"/>
          <p:cNvSpPr txBox="1"/>
          <p:nvPr/>
        </p:nvSpPr>
        <p:spPr>
          <a:xfrm>
            <a:off x="722376" y="4023360"/>
            <a:ext cx="10744200" cy="457200"/>
          </a:xfrm>
          <a:prstGeom prst="rect">
            <a:avLst/>
          </a:prstGeom>
          <a:noFill/>
        </p:spPr>
        <p:txBody>
          <a:bodyPr wrap="square" lIns="0" rIns="0" tIns="0" bIns="0" anchor="t">
            <a:spAutoFit/>
          </a:bodyPr>
          <a:lstStyle/>
          <a:p>
            <a:pPr algn="ctr"/>
            <a:r>
              <a:rPr sz="1800" b="0">
                <a:solidFill>
                  <a:srgbClr val="D5E0E2"/>
                </a:solidFill>
                <a:latin typeface="Verdana"/>
              </a:rPr>
              <a:t>Questions?  ·  rividyathasathakshi.github.io/demo</a:t>
            </a:r>
          </a:p>
        </p:txBody>
      </p:sp>
      <p:sp>
        <p:nvSpPr>
          <p:cNvPr id="122" name="TextBox 121"/>
          <p:cNvSpPr txBox="1"/>
          <p:nvPr/>
        </p:nvSpPr>
        <p:spPr>
          <a:xfrm>
            <a:off x="722376" y="5806440"/>
            <a:ext cx="10744200" cy="548640"/>
          </a:xfrm>
          <a:prstGeom prst="rect">
            <a:avLst/>
          </a:prstGeom>
          <a:noFill/>
        </p:spPr>
        <p:txBody>
          <a:bodyPr wrap="square" lIns="0" rIns="0" tIns="0" bIns="0" anchor="t">
            <a:spAutoFit/>
          </a:bodyPr>
          <a:lstStyle/>
          <a:p>
            <a:pPr algn="ctr"/>
            <a:r>
              <a:rPr sz="1050" b="0">
                <a:solidFill>
                  <a:srgbClr val="AFC0C4"/>
                </a:solidFill>
                <a:latin typeface="Verdana"/>
              </a:rPr>
              <a:t>Lumenova is a screening and wellness aid, not a diagnostic device. Results may be affected by strip type, timing, lighting, camera quality, and other factors.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CFC"/>
        </a:solidFill>
        <a:effectLst/>
      </p:bgPr>
    </p:bg>
    <p:spTree>
      <p:nvGrpSpPr>
        <p:cNvPr id="1" name=""/>
        <p:cNvGrpSpPr/>
        <p:nvPr/>
      </p:nvGrpSpPr>
      <p:grpSpPr/>
      <p:sp>
        <p:nvSpPr>
          <p:cNvPr id="2" name="Title"/>
          <p:cNvSpPr txBox="1"/>
          <p:nvPr/>
        </p:nvSpPr>
        <p:spPr>
          <a:xfrm>
            <a:off x="722376" y="758952"/>
            <a:ext cx="10744200" cy="704088"/>
          </a:xfrm>
          <a:prstGeom prst="rect">
            <a:avLst/>
          </a:prstGeom>
          <a:noFill/>
        </p:spPr>
        <p:txBody>
          <a:bodyPr wrap="square" lIns="0" rIns="0" tIns="0" bIns="0" anchor="t">
            <a:spAutoFit/>
          </a:bodyPr>
          <a:lstStyle/>
          <a:p>
            <a:pPr algn="l"/>
            <a:r>
              <a:rPr sz="3600" b="1">
                <a:solidFill>
                  <a:srgbClr val="12242C"/>
                </a:solidFill>
                <a:latin typeface="Verdana"/>
              </a:rPr>
              <a:t>Problem Statement</a:t>
            </a:r>
          </a:p>
        </p:txBody>
      </p:sp>
      <p:sp>
        <p:nvSpPr>
          <p:cNvPr id="3" name="Divider"/>
          <p:cNvSpPr/>
          <p:nvPr/>
        </p:nvSpPr>
        <p:spPr>
          <a:xfrm>
            <a:off x="722376" y="1762048"/>
            <a:ext cx="10744200" cy="9509"/>
          </a:xfrm>
          <a:prstGeom prst="rect">
            <a:avLst/>
          </a:prstGeom>
          <a:solidFill>
            <a:srgbClr val="DDE6E8"/>
          </a:solidFill>
          <a:ln>
            <a:noFill/>
          </a:ln>
          <a:effectLst/>
        </p:spPr>
        <p:txBody>
          <a:bodyPr rtlCol="0" anchor="ctr"/>
          <a:lstStyle/>
          <a:p>
            <a:pPr algn="ctr"/>
          </a:p>
        </p:txBody>
      </p:sp>
      <p:sp>
        <p:nvSpPr>
          <p:cNvPr id="4" name="Footer"/>
          <p:cNvSpPr txBox="1"/>
          <p:nvPr/>
        </p:nvSpPr>
        <p:spPr>
          <a:xfrm>
            <a:off x="722376" y="6286500"/>
            <a:ext cx="8778240" cy="228600"/>
          </a:xfrm>
          <a:prstGeom prst="rect">
            <a:avLst/>
          </a:prstGeom>
          <a:noFill/>
        </p:spPr>
        <p:txBody>
          <a:bodyPr wrap="square" lIns="0" rIns="0" tIns="0" bIns="0" anchor="t">
            <a:spAutoFit/>
          </a:bodyPr>
          <a:lstStyle/>
          <a:p>
            <a:pPr algn="l"/>
            <a:r>
              <a:rPr sz="1050" b="0">
                <a:solidFill>
                  <a:srgbClr val="63777F"/>
                </a:solidFill>
                <a:latin typeface="Verdana"/>
              </a:rPr>
              <a:t>ECE  /  VVCE, MYSURU</a:t>
            </a:r>
          </a:p>
        </p:txBody>
      </p:sp>
      <p:sp>
        <p:nvSpPr>
          <p:cNvPr id="5" name="Page number"/>
          <p:cNvSpPr txBox="1"/>
          <p:nvPr/>
        </p:nvSpPr>
        <p:spPr>
          <a:xfrm>
            <a:off x="10378440" y="6286500"/>
            <a:ext cx="1088136" cy="228600"/>
          </a:xfrm>
          <a:prstGeom prst="rect">
            <a:avLst/>
          </a:prstGeom>
          <a:noFill/>
        </p:spPr>
        <p:txBody>
          <a:bodyPr wrap="square" lIns="0" rIns="0" tIns="0" bIns="0" anchor="t">
            <a:spAutoFit/>
          </a:bodyPr>
          <a:lstStyle/>
          <a:p>
            <a:pPr algn="r"/>
            <a:r>
              <a:rPr sz="1050" b="0">
                <a:solidFill>
                  <a:srgbClr val="63777F"/>
                </a:solidFill>
                <a:latin typeface="Verdana"/>
              </a:rPr>
              <a:t>02 / 07</a:t>
            </a:r>
          </a:p>
        </p:txBody>
      </p:sp>
      <p:sp>
        <p:nvSpPr>
          <p:cNvPr id="6" name="Lead"/>
          <p:cNvSpPr txBox="1"/>
          <p:nvPr/>
        </p:nvSpPr>
        <p:spPr>
          <a:xfrm>
            <a:off x="722376" y="1938528"/>
            <a:ext cx="10744200" cy="411480"/>
          </a:xfrm>
          <a:prstGeom prst="rect">
            <a:avLst/>
          </a:prstGeom>
          <a:noFill/>
        </p:spPr>
        <p:txBody>
          <a:bodyPr wrap="square" lIns="0" rIns="0" tIns="0" bIns="0" anchor="t">
            <a:spAutoFit/>
          </a:bodyPr>
          <a:lstStyle/>
          <a:p>
            <a:pPr algn="l"/>
            <a:r>
              <a:rPr sz="1875" b="1">
                <a:solidFill>
                  <a:srgbClr val="12242C"/>
                </a:solidFill>
                <a:latin typeface="Verdana"/>
              </a:rPr>
              <a:t>Home test strips are still read by eye</a:t>
            </a:r>
          </a:p>
        </p:txBody>
      </p:sp>
      <p:sp>
        <p:nvSpPr>
          <p:cNvPr id="7" name="Rounded Rectangle 6"/>
          <p:cNvSpPr/>
          <p:nvPr/>
        </p:nvSpPr>
        <p:spPr>
          <a:xfrm>
            <a:off x="722376" y="2560320"/>
            <a:ext cx="5234940" cy="1188720"/>
          </a:xfrm>
          <a:prstGeom prst="roundRect">
            <a:avLst>
              <a:gd name="adj" fmla="val 6000"/>
            </a:avLst>
          </a:prstGeom>
          <a:solidFill>
            <a:srgbClr val="F0F5F6"/>
          </a:solidFill>
          <a:ln>
            <a:noFill/>
          </a:ln>
          <a:effectLst/>
        </p:spPr>
        <p:txBody>
          <a:bodyPr rtlCol="0" anchor="ctr"/>
          <a:lstStyle/>
          <a:p>
            <a:pPr algn="ctr"/>
          </a:p>
        </p:txBody>
      </p:sp>
      <p:sp>
        <p:nvSpPr>
          <p:cNvPr id="8" name="TextBox 7"/>
          <p:cNvSpPr txBox="1"/>
          <p:nvPr/>
        </p:nvSpPr>
        <p:spPr>
          <a:xfrm>
            <a:off x="996696" y="2788920"/>
            <a:ext cx="822960" cy="640080"/>
          </a:xfrm>
          <a:prstGeom prst="rect">
            <a:avLst/>
          </a:prstGeom>
          <a:noFill/>
        </p:spPr>
        <p:txBody>
          <a:bodyPr wrap="square" lIns="0" rIns="0" tIns="0" bIns="0" anchor="t">
            <a:spAutoFit/>
          </a:bodyPr>
          <a:lstStyle/>
          <a:p>
            <a:pPr algn="l"/>
            <a:r>
              <a:rPr sz="3200" b="1">
                <a:solidFill>
                  <a:srgbClr val="43D5E8"/>
                </a:solidFill>
                <a:latin typeface="Verdana"/>
              </a:rPr>
              <a:t>01</a:t>
            </a:r>
          </a:p>
        </p:txBody>
      </p:sp>
      <p:sp>
        <p:nvSpPr>
          <p:cNvPr id="9" name="TextBox 8"/>
          <p:cNvSpPr txBox="1"/>
          <p:nvPr/>
        </p:nvSpPr>
        <p:spPr>
          <a:xfrm>
            <a:off x="1865376" y="2788920"/>
            <a:ext cx="3817620" cy="868680"/>
          </a:xfrm>
          <a:prstGeom prst="rect">
            <a:avLst/>
          </a:prstGeom>
          <a:noFill/>
        </p:spPr>
        <p:txBody>
          <a:bodyPr wrap="square" lIns="0" rIns="0" tIns="0" bIns="0" anchor="t">
            <a:spAutoFit/>
          </a:bodyPr>
          <a:lstStyle/>
          <a:p>
            <a:pPr algn="l">
              <a:spcAft>
                <a:spcPts val="800"/>
              </a:spcAft>
            </a:pPr>
            <a:r>
              <a:rPr sz="1600" b="1">
                <a:solidFill>
                  <a:srgbClr val="12242C"/>
                </a:solidFill>
                <a:latin typeface="Verdana"/>
              </a:rPr>
              <a:t>Colour charts are hard to match</a:t>
            </a:r>
          </a:p>
          <a:p>
            <a:pPr algn="l"/>
            <a:r>
              <a:rPr sz="1400" b="0">
                <a:solidFill>
                  <a:srgbClr val="63777F"/>
                </a:solidFill>
                <a:latin typeface="Verdana"/>
              </a:rPr>
              <a:t>Lighting, colour vision and timing change what the eye sees.</a:t>
            </a:r>
          </a:p>
        </p:txBody>
      </p:sp>
      <p:sp>
        <p:nvSpPr>
          <p:cNvPr id="10" name="Rounded Rectangle 9"/>
          <p:cNvSpPr/>
          <p:nvPr/>
        </p:nvSpPr>
        <p:spPr>
          <a:xfrm>
            <a:off x="6231636" y="2560320"/>
            <a:ext cx="5234940" cy="1188720"/>
          </a:xfrm>
          <a:prstGeom prst="roundRect">
            <a:avLst>
              <a:gd name="adj" fmla="val 6000"/>
            </a:avLst>
          </a:prstGeom>
          <a:solidFill>
            <a:srgbClr val="F0F5F6"/>
          </a:solidFill>
          <a:ln>
            <a:noFill/>
          </a:ln>
          <a:effectLst/>
        </p:spPr>
        <p:txBody>
          <a:bodyPr rtlCol="0" anchor="ctr"/>
          <a:lstStyle/>
          <a:p>
            <a:pPr algn="ctr"/>
          </a:p>
        </p:txBody>
      </p:sp>
      <p:sp>
        <p:nvSpPr>
          <p:cNvPr id="11" name="TextBox 10"/>
          <p:cNvSpPr txBox="1"/>
          <p:nvPr/>
        </p:nvSpPr>
        <p:spPr>
          <a:xfrm>
            <a:off x="6505955" y="2788920"/>
            <a:ext cx="822960" cy="640080"/>
          </a:xfrm>
          <a:prstGeom prst="rect">
            <a:avLst/>
          </a:prstGeom>
          <a:noFill/>
        </p:spPr>
        <p:txBody>
          <a:bodyPr wrap="square" lIns="0" rIns="0" tIns="0" bIns="0" anchor="t">
            <a:spAutoFit/>
          </a:bodyPr>
          <a:lstStyle/>
          <a:p>
            <a:pPr algn="l"/>
            <a:r>
              <a:rPr sz="3200" b="1">
                <a:solidFill>
                  <a:srgbClr val="43D5E8"/>
                </a:solidFill>
                <a:latin typeface="Verdana"/>
              </a:rPr>
              <a:t>02</a:t>
            </a:r>
          </a:p>
        </p:txBody>
      </p:sp>
      <p:sp>
        <p:nvSpPr>
          <p:cNvPr id="12" name="TextBox 11"/>
          <p:cNvSpPr txBox="1"/>
          <p:nvPr/>
        </p:nvSpPr>
        <p:spPr>
          <a:xfrm>
            <a:off x="7374636" y="2788920"/>
            <a:ext cx="3817620" cy="868680"/>
          </a:xfrm>
          <a:prstGeom prst="rect">
            <a:avLst/>
          </a:prstGeom>
          <a:noFill/>
        </p:spPr>
        <p:txBody>
          <a:bodyPr wrap="square" lIns="0" rIns="0" tIns="0" bIns="0" anchor="t">
            <a:spAutoFit/>
          </a:bodyPr>
          <a:lstStyle/>
          <a:p>
            <a:pPr algn="l">
              <a:spcAft>
                <a:spcPts val="800"/>
              </a:spcAft>
            </a:pPr>
            <a:r>
              <a:rPr sz="1600" b="1">
                <a:solidFill>
                  <a:srgbClr val="12242C"/>
                </a:solidFill>
                <a:latin typeface="Verdana"/>
              </a:rPr>
              <a:t>Ovulation lines are hard to judge</a:t>
            </a:r>
          </a:p>
          <a:p>
            <a:pPr algn="l"/>
            <a:r>
              <a:rPr sz="1400" b="0">
                <a:solidFill>
                  <a:srgbClr val="63777F"/>
                </a:solidFill>
                <a:latin typeface="Verdana"/>
              </a:rPr>
              <a:t>Is the T line as dark as the C line? That guess is the result.</a:t>
            </a:r>
          </a:p>
        </p:txBody>
      </p:sp>
      <p:sp>
        <p:nvSpPr>
          <p:cNvPr id="13" name="Rounded Rectangle 12"/>
          <p:cNvSpPr/>
          <p:nvPr/>
        </p:nvSpPr>
        <p:spPr>
          <a:xfrm>
            <a:off x="722376" y="3931920"/>
            <a:ext cx="5234940" cy="1188720"/>
          </a:xfrm>
          <a:prstGeom prst="roundRect">
            <a:avLst>
              <a:gd name="adj" fmla="val 6000"/>
            </a:avLst>
          </a:prstGeom>
          <a:solidFill>
            <a:srgbClr val="F0F5F6"/>
          </a:solidFill>
          <a:ln>
            <a:noFill/>
          </a:ln>
          <a:effectLst/>
        </p:spPr>
        <p:txBody>
          <a:bodyPr rtlCol="0" anchor="ctr"/>
          <a:lstStyle/>
          <a:p>
            <a:pPr algn="ctr"/>
          </a:p>
        </p:txBody>
      </p:sp>
      <p:sp>
        <p:nvSpPr>
          <p:cNvPr id="14" name="TextBox 13"/>
          <p:cNvSpPr txBox="1"/>
          <p:nvPr/>
        </p:nvSpPr>
        <p:spPr>
          <a:xfrm>
            <a:off x="996696" y="4160520"/>
            <a:ext cx="822960" cy="640080"/>
          </a:xfrm>
          <a:prstGeom prst="rect">
            <a:avLst/>
          </a:prstGeom>
          <a:noFill/>
        </p:spPr>
        <p:txBody>
          <a:bodyPr wrap="square" lIns="0" rIns="0" tIns="0" bIns="0" anchor="t">
            <a:spAutoFit/>
          </a:bodyPr>
          <a:lstStyle/>
          <a:p>
            <a:pPr algn="l"/>
            <a:r>
              <a:rPr sz="3200" b="1">
                <a:solidFill>
                  <a:srgbClr val="43D5E8"/>
                </a:solidFill>
                <a:latin typeface="Verdana"/>
              </a:rPr>
              <a:t>03</a:t>
            </a:r>
          </a:p>
        </p:txBody>
      </p:sp>
      <p:sp>
        <p:nvSpPr>
          <p:cNvPr id="15" name="TextBox 14"/>
          <p:cNvSpPr txBox="1"/>
          <p:nvPr/>
        </p:nvSpPr>
        <p:spPr>
          <a:xfrm>
            <a:off x="1865376" y="4160520"/>
            <a:ext cx="3817620" cy="868680"/>
          </a:xfrm>
          <a:prstGeom prst="rect">
            <a:avLst/>
          </a:prstGeom>
          <a:noFill/>
        </p:spPr>
        <p:txBody>
          <a:bodyPr wrap="square" lIns="0" rIns="0" tIns="0" bIns="0" anchor="t">
            <a:spAutoFit/>
          </a:bodyPr>
          <a:lstStyle/>
          <a:p>
            <a:pPr algn="l">
              <a:spcAft>
                <a:spcPts val="800"/>
              </a:spcAft>
            </a:pPr>
            <a:r>
              <a:rPr sz="1600" b="1">
                <a:solidFill>
                  <a:srgbClr val="12242C"/>
                </a:solidFill>
                <a:latin typeface="Verdana"/>
              </a:rPr>
              <a:t>Results are thrown away</a:t>
            </a:r>
          </a:p>
          <a:p>
            <a:pPr algn="l"/>
            <a:r>
              <a:rPr sz="1400" b="0">
                <a:solidFill>
                  <a:srgbClr val="63777F"/>
                </a:solidFill>
                <a:latin typeface="Verdana"/>
              </a:rPr>
              <a:t>No trend over days, and no link to the menstrual cycle.</a:t>
            </a:r>
          </a:p>
        </p:txBody>
      </p:sp>
      <p:sp>
        <p:nvSpPr>
          <p:cNvPr id="16" name="Rounded Rectangle 15"/>
          <p:cNvSpPr/>
          <p:nvPr/>
        </p:nvSpPr>
        <p:spPr>
          <a:xfrm>
            <a:off x="6231636" y="3931920"/>
            <a:ext cx="5234940" cy="1188720"/>
          </a:xfrm>
          <a:prstGeom prst="roundRect">
            <a:avLst>
              <a:gd name="adj" fmla="val 6000"/>
            </a:avLst>
          </a:prstGeom>
          <a:solidFill>
            <a:srgbClr val="F0F5F6"/>
          </a:solidFill>
          <a:ln>
            <a:noFill/>
          </a:ln>
          <a:effectLst/>
        </p:spPr>
        <p:txBody>
          <a:bodyPr rtlCol="0" anchor="ctr"/>
          <a:lstStyle/>
          <a:p>
            <a:pPr algn="ctr"/>
          </a:p>
        </p:txBody>
      </p:sp>
      <p:sp>
        <p:nvSpPr>
          <p:cNvPr id="17" name="TextBox 16"/>
          <p:cNvSpPr txBox="1"/>
          <p:nvPr/>
        </p:nvSpPr>
        <p:spPr>
          <a:xfrm>
            <a:off x="6505955" y="4160520"/>
            <a:ext cx="822960" cy="640080"/>
          </a:xfrm>
          <a:prstGeom prst="rect">
            <a:avLst/>
          </a:prstGeom>
          <a:noFill/>
        </p:spPr>
        <p:txBody>
          <a:bodyPr wrap="square" lIns="0" rIns="0" tIns="0" bIns="0" anchor="t">
            <a:spAutoFit/>
          </a:bodyPr>
          <a:lstStyle/>
          <a:p>
            <a:pPr algn="l"/>
            <a:r>
              <a:rPr sz="3200" b="1">
                <a:solidFill>
                  <a:srgbClr val="43D5E8"/>
                </a:solidFill>
                <a:latin typeface="Verdana"/>
              </a:rPr>
              <a:t>04</a:t>
            </a:r>
          </a:p>
        </p:txBody>
      </p:sp>
      <p:sp>
        <p:nvSpPr>
          <p:cNvPr id="18" name="TextBox 17"/>
          <p:cNvSpPr txBox="1"/>
          <p:nvPr/>
        </p:nvSpPr>
        <p:spPr>
          <a:xfrm>
            <a:off x="7374636" y="4160520"/>
            <a:ext cx="3817620" cy="868680"/>
          </a:xfrm>
          <a:prstGeom prst="rect">
            <a:avLst/>
          </a:prstGeom>
          <a:noFill/>
        </p:spPr>
        <p:txBody>
          <a:bodyPr wrap="square" lIns="0" rIns="0" tIns="0" bIns="0" anchor="t">
            <a:spAutoFit/>
          </a:bodyPr>
          <a:lstStyle/>
          <a:p>
            <a:pPr algn="l">
              <a:spcAft>
                <a:spcPts val="800"/>
              </a:spcAft>
            </a:pPr>
            <a:r>
              <a:rPr sz="1600" b="1">
                <a:solidFill>
                  <a:srgbClr val="12242C"/>
                </a:solidFill>
                <a:latin typeface="Verdana"/>
              </a:rPr>
              <a:t>No next step, no privacy</a:t>
            </a:r>
          </a:p>
          <a:p>
            <a:pPr algn="l"/>
            <a:r>
              <a:rPr sz="1400" b="0">
                <a:solidFill>
                  <a:srgbClr val="63777F"/>
                </a:solidFill>
                <a:latin typeface="Verdana"/>
              </a:rPr>
              <a:t>Little guidance after a worrying result; most apps need an account.</a:t>
            </a:r>
          </a:p>
        </p:txBody>
      </p:sp>
      <p:sp>
        <p:nvSpPr>
          <p:cNvPr id="19" name="Rounded Rectangle 18"/>
          <p:cNvSpPr/>
          <p:nvPr/>
        </p:nvSpPr>
        <p:spPr>
          <a:xfrm>
            <a:off x="722376" y="5303520"/>
            <a:ext cx="10744200" cy="777240"/>
          </a:xfrm>
          <a:prstGeom prst="roundRect">
            <a:avLst>
              <a:gd name="adj" fmla="val 6000"/>
            </a:avLst>
          </a:prstGeom>
          <a:solidFill>
            <a:srgbClr val="030707"/>
          </a:solidFill>
          <a:ln>
            <a:noFill/>
          </a:ln>
          <a:effectLst/>
        </p:spPr>
        <p:txBody>
          <a:bodyPr rtlCol="0" anchor="ctr"/>
          <a:lstStyle/>
          <a:p>
            <a:pPr algn="ctr"/>
          </a:p>
        </p:txBody>
      </p:sp>
      <p:sp>
        <p:nvSpPr>
          <p:cNvPr id="20" name="TextBox 19"/>
          <p:cNvSpPr txBox="1"/>
          <p:nvPr/>
        </p:nvSpPr>
        <p:spPr>
          <a:xfrm>
            <a:off x="996696" y="5303520"/>
            <a:ext cx="10195560" cy="777240"/>
          </a:xfrm>
          <a:prstGeom prst="rect">
            <a:avLst/>
          </a:prstGeom>
          <a:noFill/>
        </p:spPr>
        <p:txBody>
          <a:bodyPr wrap="square" lIns="0" rIns="0" tIns="0" bIns="0" anchor="ctr">
            <a:spAutoFit/>
          </a:bodyPr>
          <a:lstStyle/>
          <a:p>
            <a:pPr algn="l"/>
            <a:r>
              <a:rPr sz="1300" b="1">
                <a:solidFill>
                  <a:srgbClr val="43D5E8"/>
                </a:solidFill>
                <a:latin typeface="Verdana"/>
              </a:rPr>
              <a:t>Who is affected?  </a:t>
            </a:r>
            <a:r>
              <a:rPr sz="1300" b="0">
                <a:solidFill>
                  <a:srgbClr val="D5E0E2"/>
                </a:solidFill>
                <a:latin typeface="Verdana"/>
              </a:rPr>
              <a:t>Women who test at home: trying to conceive, tracking their cycle, living with diabetes or kidney concerns, doing antenatal self-checks, or in rural, low-resource areas far from labs.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CFC"/>
        </a:solidFill>
        <a:effectLst/>
      </p:bgPr>
    </p:bg>
    <p:spTree>
      <p:nvGrpSpPr>
        <p:cNvPr id="1" name=""/>
        <p:cNvGrpSpPr/>
        <p:nvPr/>
      </p:nvGrpSpPr>
      <p:grpSpPr/>
      <p:sp>
        <p:nvSpPr>
          <p:cNvPr id="2" name="Title"/>
          <p:cNvSpPr txBox="1"/>
          <p:nvPr/>
        </p:nvSpPr>
        <p:spPr>
          <a:xfrm>
            <a:off x="722376" y="758952"/>
            <a:ext cx="10744200" cy="704088"/>
          </a:xfrm>
          <a:prstGeom prst="rect">
            <a:avLst/>
          </a:prstGeom>
          <a:noFill/>
        </p:spPr>
        <p:txBody>
          <a:bodyPr wrap="square" lIns="0" rIns="0" tIns="0" bIns="0" anchor="t">
            <a:spAutoFit/>
          </a:bodyPr>
          <a:lstStyle/>
          <a:p>
            <a:pPr algn="l"/>
            <a:r>
              <a:rPr sz="3600" b="1">
                <a:solidFill>
                  <a:srgbClr val="12242C"/>
                </a:solidFill>
                <a:latin typeface="Verdana"/>
              </a:rPr>
              <a:t>Proposed Solution</a:t>
            </a:r>
          </a:p>
        </p:txBody>
      </p:sp>
      <p:sp>
        <p:nvSpPr>
          <p:cNvPr id="3" name="Divider"/>
          <p:cNvSpPr/>
          <p:nvPr/>
        </p:nvSpPr>
        <p:spPr>
          <a:xfrm>
            <a:off x="722376" y="1762048"/>
            <a:ext cx="10744200" cy="9509"/>
          </a:xfrm>
          <a:prstGeom prst="rect">
            <a:avLst/>
          </a:prstGeom>
          <a:solidFill>
            <a:srgbClr val="DDE6E8"/>
          </a:solidFill>
          <a:ln>
            <a:noFill/>
          </a:ln>
          <a:effectLst/>
        </p:spPr>
        <p:txBody>
          <a:bodyPr rtlCol="0" anchor="ctr"/>
          <a:lstStyle/>
          <a:p>
            <a:pPr algn="ctr"/>
          </a:p>
        </p:txBody>
      </p:sp>
      <p:sp>
        <p:nvSpPr>
          <p:cNvPr id="4" name="Footer"/>
          <p:cNvSpPr txBox="1"/>
          <p:nvPr/>
        </p:nvSpPr>
        <p:spPr>
          <a:xfrm>
            <a:off x="722376" y="6286500"/>
            <a:ext cx="8778240" cy="228600"/>
          </a:xfrm>
          <a:prstGeom prst="rect">
            <a:avLst/>
          </a:prstGeom>
          <a:noFill/>
        </p:spPr>
        <p:txBody>
          <a:bodyPr wrap="square" lIns="0" rIns="0" tIns="0" bIns="0" anchor="t">
            <a:spAutoFit/>
          </a:bodyPr>
          <a:lstStyle/>
          <a:p>
            <a:pPr algn="l"/>
            <a:r>
              <a:rPr sz="1050" b="0">
                <a:solidFill>
                  <a:srgbClr val="63777F"/>
                </a:solidFill>
                <a:latin typeface="Verdana"/>
              </a:rPr>
              <a:t>ECE  /  VVCE, MYSURU   ·   Screens from the working prototype</a:t>
            </a:r>
          </a:p>
        </p:txBody>
      </p:sp>
      <p:sp>
        <p:nvSpPr>
          <p:cNvPr id="5" name="Page number"/>
          <p:cNvSpPr txBox="1"/>
          <p:nvPr/>
        </p:nvSpPr>
        <p:spPr>
          <a:xfrm>
            <a:off x="10378440" y="6286500"/>
            <a:ext cx="1088136" cy="228600"/>
          </a:xfrm>
          <a:prstGeom prst="rect">
            <a:avLst/>
          </a:prstGeom>
          <a:noFill/>
        </p:spPr>
        <p:txBody>
          <a:bodyPr wrap="square" lIns="0" rIns="0" tIns="0" bIns="0" anchor="t">
            <a:spAutoFit/>
          </a:bodyPr>
          <a:lstStyle/>
          <a:p>
            <a:pPr algn="r"/>
            <a:r>
              <a:rPr sz="1050" b="0">
                <a:solidFill>
                  <a:srgbClr val="63777F"/>
                </a:solidFill>
                <a:latin typeface="Verdana"/>
              </a:rPr>
              <a:t>03 / 07</a:t>
            </a:r>
          </a:p>
        </p:txBody>
      </p:sp>
      <p:sp>
        <p:nvSpPr>
          <p:cNvPr id="6" name="TextBox 5"/>
          <p:cNvSpPr txBox="1"/>
          <p:nvPr/>
        </p:nvSpPr>
        <p:spPr>
          <a:xfrm>
            <a:off x="722376" y="2011680"/>
            <a:ext cx="6400800" cy="402336"/>
          </a:xfrm>
          <a:prstGeom prst="rect">
            <a:avLst/>
          </a:prstGeom>
          <a:noFill/>
        </p:spPr>
        <p:txBody>
          <a:bodyPr wrap="square" lIns="0" rIns="0" tIns="0" bIns="0" anchor="t">
            <a:spAutoFit/>
          </a:bodyPr>
          <a:lstStyle/>
          <a:p>
            <a:pPr algn="l"/>
            <a:r>
              <a:rPr sz="1875" b="1">
                <a:solidFill>
                  <a:srgbClr val="12242C"/>
                </a:solidFill>
                <a:latin typeface="Verdana"/>
              </a:rPr>
              <a:t>What is your solution?</a:t>
            </a:r>
          </a:p>
        </p:txBody>
      </p:sp>
      <p:sp>
        <p:nvSpPr>
          <p:cNvPr id="7" name="TextBox 6"/>
          <p:cNvSpPr txBox="1"/>
          <p:nvPr/>
        </p:nvSpPr>
        <p:spPr>
          <a:xfrm>
            <a:off x="722376" y="2450592"/>
            <a:ext cx="6400800" cy="685800"/>
          </a:xfrm>
          <a:prstGeom prst="rect">
            <a:avLst/>
          </a:prstGeom>
          <a:noFill/>
        </p:spPr>
        <p:txBody>
          <a:bodyPr wrap="square" lIns="0" rIns="0" tIns="0" bIns="0" anchor="t">
            <a:spAutoFit/>
          </a:bodyPr>
          <a:lstStyle/>
          <a:p>
            <a:pPr algn="l"/>
            <a:r>
              <a:rPr sz="1600" b="0">
                <a:solidFill>
                  <a:srgbClr val="63777F"/>
                </a:solidFill>
                <a:latin typeface="Verdana"/>
              </a:rPr>
              <a:t>Point a phone at the strip and get an objective reading of home urine and ovulation tests.</a:t>
            </a:r>
          </a:p>
        </p:txBody>
      </p:sp>
      <p:sp>
        <p:nvSpPr>
          <p:cNvPr id="8" name="TextBox 7"/>
          <p:cNvSpPr txBox="1"/>
          <p:nvPr/>
        </p:nvSpPr>
        <p:spPr>
          <a:xfrm>
            <a:off x="722376" y="3291840"/>
            <a:ext cx="6400800" cy="402336"/>
          </a:xfrm>
          <a:prstGeom prst="rect">
            <a:avLst/>
          </a:prstGeom>
          <a:noFill/>
        </p:spPr>
        <p:txBody>
          <a:bodyPr wrap="square" lIns="0" rIns="0" tIns="0" bIns="0" anchor="t">
            <a:spAutoFit/>
          </a:bodyPr>
          <a:lstStyle/>
          <a:p>
            <a:pPr algn="l"/>
            <a:r>
              <a:rPr sz="1875" b="1">
                <a:solidFill>
                  <a:srgbClr val="12242C"/>
                </a:solidFill>
                <a:latin typeface="Verdana"/>
              </a:rPr>
              <a:t>How does it help?</a:t>
            </a:r>
          </a:p>
        </p:txBody>
      </p:sp>
      <p:sp>
        <p:nvSpPr>
          <p:cNvPr id="9" name="TextBox 8"/>
          <p:cNvSpPr txBox="1"/>
          <p:nvPr/>
        </p:nvSpPr>
        <p:spPr>
          <a:xfrm>
            <a:off x="722376" y="3730752"/>
            <a:ext cx="6400800" cy="1463040"/>
          </a:xfrm>
          <a:prstGeom prst="rect">
            <a:avLst/>
          </a:prstGeom>
          <a:noFill/>
        </p:spPr>
        <p:txBody>
          <a:bodyPr wrap="square" lIns="0" rIns="0" tIns="0" bIns="0" anchor="t">
            <a:spAutoFit/>
          </a:bodyPr>
          <a:lstStyle/>
          <a:p>
            <a:pPr algn="l">
              <a:spcAft>
                <a:spcPts val="600"/>
              </a:spcAft>
            </a:pPr>
            <a:r>
              <a:rPr sz="1600" b="1">
                <a:solidFill>
                  <a:srgbClr val="0E7C8B"/>
                </a:solidFill>
                <a:latin typeface="Verdana"/>
              </a:rPr>
              <a:t>1.  </a:t>
            </a:r>
            <a:r>
              <a:rPr sz="1600" b="0">
                <a:solidFill>
                  <a:srgbClr val="63777F"/>
                </a:solidFill>
                <a:latin typeface="Verdana"/>
              </a:rPr>
              <a:t>Live guidance frames the strip and captures it</a:t>
            </a:r>
          </a:p>
          <a:p>
            <a:pPr algn="l">
              <a:spcAft>
                <a:spcPts val="600"/>
              </a:spcAft>
            </a:pPr>
            <a:r>
              <a:rPr sz="1600" b="1">
                <a:solidFill>
                  <a:srgbClr val="0E7C8B"/>
                </a:solidFill>
                <a:latin typeface="Verdana"/>
              </a:rPr>
              <a:t>2.  </a:t>
            </a:r>
            <a:r>
              <a:rPr sz="1600" b="0">
                <a:solidFill>
                  <a:srgbClr val="63777F"/>
                </a:solidFill>
                <a:latin typeface="Verdana"/>
              </a:rPr>
              <a:t>AI finds the pads; colour science reads them</a:t>
            </a:r>
          </a:p>
          <a:p>
            <a:pPr algn="l">
              <a:spcAft>
                <a:spcPts val="600"/>
              </a:spcAft>
            </a:pPr>
            <a:r>
              <a:rPr sz="1600" b="1">
                <a:solidFill>
                  <a:srgbClr val="0E7C8B"/>
                </a:solidFill>
                <a:latin typeface="Verdana"/>
              </a:rPr>
              <a:t>3.  </a:t>
            </a:r>
            <a:r>
              <a:rPr sz="1600" b="0">
                <a:solidFill>
                  <a:srgbClr val="63777F"/>
                </a:solidFill>
                <a:latin typeface="Verdana"/>
              </a:rPr>
              <a:t>Plain-language result, never a diagnosis</a:t>
            </a:r>
          </a:p>
          <a:p>
            <a:pPr algn="l">
              <a:spcAft>
                <a:spcPts val="600"/>
              </a:spcAft>
            </a:pPr>
            <a:r>
              <a:rPr sz="1600" b="1">
                <a:solidFill>
                  <a:srgbClr val="0E7C8B"/>
                </a:solidFill>
                <a:latin typeface="Verdana"/>
              </a:rPr>
              <a:t>4.  </a:t>
            </a:r>
            <a:r>
              <a:rPr sz="1600" b="0">
                <a:solidFill>
                  <a:srgbClr val="63777F"/>
                </a:solidFill>
                <a:latin typeface="Verdana"/>
              </a:rPr>
              <a:t>Saved privately, with trends and a cycle calendar</a:t>
            </a:r>
          </a:p>
        </p:txBody>
      </p:sp>
      <p:sp>
        <p:nvSpPr>
          <p:cNvPr id="10" name="TextBox 9"/>
          <p:cNvSpPr txBox="1"/>
          <p:nvPr/>
        </p:nvSpPr>
        <p:spPr>
          <a:xfrm>
            <a:off x="722376" y="5303520"/>
            <a:ext cx="6400800" cy="402336"/>
          </a:xfrm>
          <a:prstGeom prst="rect">
            <a:avLst/>
          </a:prstGeom>
          <a:noFill/>
        </p:spPr>
        <p:txBody>
          <a:bodyPr wrap="square" lIns="0" rIns="0" tIns="0" bIns="0" anchor="t">
            <a:spAutoFit/>
          </a:bodyPr>
          <a:lstStyle/>
          <a:p>
            <a:pPr algn="l"/>
            <a:r>
              <a:rPr sz="1875" b="1">
                <a:solidFill>
                  <a:srgbClr val="12242C"/>
                </a:solidFill>
                <a:latin typeface="Verdana"/>
              </a:rPr>
              <a:t>What is the core idea?</a:t>
            </a:r>
          </a:p>
        </p:txBody>
      </p:sp>
      <p:sp>
        <p:nvSpPr>
          <p:cNvPr id="11" name="TextBox 10"/>
          <p:cNvSpPr txBox="1"/>
          <p:nvPr/>
        </p:nvSpPr>
        <p:spPr>
          <a:xfrm>
            <a:off x="722376" y="5669280"/>
            <a:ext cx="6400800" cy="365760"/>
          </a:xfrm>
          <a:prstGeom prst="rect">
            <a:avLst/>
          </a:prstGeom>
          <a:noFill/>
        </p:spPr>
        <p:txBody>
          <a:bodyPr wrap="square" lIns="0" rIns="0" tIns="0" bIns="0" anchor="t">
            <a:spAutoFit/>
          </a:bodyPr>
          <a:lstStyle/>
          <a:p>
            <a:pPr algn="l"/>
            <a:r>
              <a:rPr sz="1600" b="0">
                <a:solidFill>
                  <a:srgbClr val="63777F"/>
                </a:solidFill>
                <a:latin typeface="Verdana"/>
              </a:rPr>
              <a:t>Works in any phone browser. No app install, no account.</a:t>
            </a:r>
          </a:p>
        </p:txBody>
      </p:sp>
      <p:sp>
        <p:nvSpPr>
          <p:cNvPr id="12" name="Rounded Rectangle 11"/>
          <p:cNvSpPr/>
          <p:nvPr/>
        </p:nvSpPr>
        <p:spPr>
          <a:xfrm>
            <a:off x="7498079" y="2011680"/>
            <a:ext cx="3968496" cy="4023360"/>
          </a:xfrm>
          <a:prstGeom prst="roundRect">
            <a:avLst>
              <a:gd name="adj" fmla="val 6000"/>
            </a:avLst>
          </a:prstGeom>
          <a:solidFill>
            <a:srgbClr val="F0F5F6"/>
          </a:solidFill>
          <a:ln>
            <a:noFill/>
          </a:ln>
          <a:effectLst/>
        </p:spPr>
        <p:txBody>
          <a:bodyPr rtlCol="0" anchor="ctr"/>
          <a:lstStyle/>
          <a:p>
            <a:pPr algn="ctr"/>
          </a:p>
        </p:txBody>
      </p:sp>
      <p:pic>
        <p:nvPicPr>
          <p:cNvPr id="13" name="Camera screen: a rotated 10-pad urine strip detected, with the message Ready to capture" descr="image-3-1.png"/>
          <p:cNvPicPr>
            <a:picLocks noChangeAspect="1"/>
          </p:cNvPicPr>
          <p:nvPr/>
        </p:nvPicPr>
        <p:blipFill>
          <a:blip r:embed="rId3"/>
          <a:stretch>
            <a:fillRect/>
          </a:stretch>
        </p:blipFill>
        <p:spPr>
          <a:xfrm>
            <a:off x="7726679" y="2212848"/>
            <a:ext cx="1668996" cy="3611880"/>
          </a:xfrm>
          <a:prstGeom prst="rect">
            <a:avLst/>
          </a:prstGeom>
        </p:spPr>
      </p:pic>
      <p:pic>
        <p:nvPicPr>
          <p:cNvPr id="14" name="Result screen: Borderline status, 7 normal and 3 borderline parameters" descr="image-3-2.png"/>
          <p:cNvPicPr>
            <a:picLocks noChangeAspect="1"/>
          </p:cNvPicPr>
          <p:nvPr/>
        </p:nvPicPr>
        <p:blipFill>
          <a:blip r:embed="rId4"/>
          <a:stretch>
            <a:fillRect/>
          </a:stretch>
        </p:blipFill>
        <p:spPr>
          <a:xfrm>
            <a:off x="9669996" y="2212848"/>
            <a:ext cx="1668996" cy="361188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CFC"/>
        </a:solidFill>
        <a:effectLst/>
      </p:bgPr>
    </p:bg>
    <p:spTree>
      <p:nvGrpSpPr>
        <p:cNvPr id="1" name=""/>
        <p:cNvGrpSpPr/>
        <p:nvPr/>
      </p:nvGrpSpPr>
      <p:grpSpPr/>
      <p:sp>
        <p:nvSpPr>
          <p:cNvPr id="2" name="Title"/>
          <p:cNvSpPr txBox="1"/>
          <p:nvPr/>
        </p:nvSpPr>
        <p:spPr>
          <a:xfrm>
            <a:off x="722376" y="758952"/>
            <a:ext cx="10744200" cy="704088"/>
          </a:xfrm>
          <a:prstGeom prst="rect">
            <a:avLst/>
          </a:prstGeom>
          <a:noFill/>
        </p:spPr>
        <p:txBody>
          <a:bodyPr wrap="square" lIns="0" rIns="0" tIns="0" bIns="0" anchor="t">
            <a:spAutoFit/>
          </a:bodyPr>
          <a:lstStyle/>
          <a:p>
            <a:pPr algn="l"/>
            <a:r>
              <a:rPr sz="3600" b="1">
                <a:solidFill>
                  <a:srgbClr val="12242C"/>
                </a:solidFill>
                <a:latin typeface="Verdana"/>
              </a:rPr>
              <a:t>How It Works</a:t>
            </a:r>
          </a:p>
        </p:txBody>
      </p:sp>
      <p:sp>
        <p:nvSpPr>
          <p:cNvPr id="3" name="Divider"/>
          <p:cNvSpPr/>
          <p:nvPr/>
        </p:nvSpPr>
        <p:spPr>
          <a:xfrm>
            <a:off x="722376" y="1762048"/>
            <a:ext cx="10744200" cy="9509"/>
          </a:xfrm>
          <a:prstGeom prst="rect">
            <a:avLst/>
          </a:prstGeom>
          <a:solidFill>
            <a:srgbClr val="DDE6E8"/>
          </a:solidFill>
          <a:ln>
            <a:noFill/>
          </a:ln>
          <a:effectLst/>
        </p:spPr>
        <p:txBody>
          <a:bodyPr rtlCol="0" anchor="ctr"/>
          <a:lstStyle/>
          <a:p>
            <a:pPr algn="ctr"/>
          </a:p>
        </p:txBody>
      </p:sp>
      <p:sp>
        <p:nvSpPr>
          <p:cNvPr id="4" name="Footer"/>
          <p:cNvSpPr txBox="1"/>
          <p:nvPr/>
        </p:nvSpPr>
        <p:spPr>
          <a:xfrm>
            <a:off x="722376" y="6286500"/>
            <a:ext cx="8778240" cy="228600"/>
          </a:xfrm>
          <a:prstGeom prst="rect">
            <a:avLst/>
          </a:prstGeom>
          <a:noFill/>
        </p:spPr>
        <p:txBody>
          <a:bodyPr wrap="square" lIns="0" rIns="0" tIns="0" bIns="0" anchor="t">
            <a:spAutoFit/>
          </a:bodyPr>
          <a:lstStyle/>
          <a:p>
            <a:pPr algn="l"/>
            <a:r>
              <a:rPr sz="1050" b="0">
                <a:solidFill>
                  <a:srgbClr val="63777F"/>
                </a:solidFill>
                <a:latin typeface="Verdana"/>
              </a:rPr>
              <a:t>ECE  /  VVCE, MYSURU</a:t>
            </a:r>
          </a:p>
        </p:txBody>
      </p:sp>
      <p:sp>
        <p:nvSpPr>
          <p:cNvPr id="5" name="Page number"/>
          <p:cNvSpPr txBox="1"/>
          <p:nvPr/>
        </p:nvSpPr>
        <p:spPr>
          <a:xfrm>
            <a:off x="10378440" y="6286500"/>
            <a:ext cx="1088136" cy="228600"/>
          </a:xfrm>
          <a:prstGeom prst="rect">
            <a:avLst/>
          </a:prstGeom>
          <a:noFill/>
        </p:spPr>
        <p:txBody>
          <a:bodyPr wrap="square" lIns="0" rIns="0" tIns="0" bIns="0" anchor="t">
            <a:spAutoFit/>
          </a:bodyPr>
          <a:lstStyle/>
          <a:p>
            <a:pPr algn="r"/>
            <a:r>
              <a:rPr sz="1050" b="0">
                <a:solidFill>
                  <a:srgbClr val="63777F"/>
                </a:solidFill>
                <a:latin typeface="Verdana"/>
              </a:rPr>
              <a:t>04 / 07</a:t>
            </a:r>
          </a:p>
        </p:txBody>
      </p:sp>
      <p:sp>
        <p:nvSpPr>
          <p:cNvPr id="6" name="Lead"/>
          <p:cNvSpPr txBox="1"/>
          <p:nvPr/>
        </p:nvSpPr>
        <p:spPr>
          <a:xfrm>
            <a:off x="722376" y="1938528"/>
            <a:ext cx="10744200" cy="411480"/>
          </a:xfrm>
          <a:prstGeom prst="rect">
            <a:avLst/>
          </a:prstGeom>
          <a:noFill/>
        </p:spPr>
        <p:txBody>
          <a:bodyPr wrap="square" lIns="0" rIns="0" tIns="0" bIns="0" anchor="t">
            <a:spAutoFit/>
          </a:bodyPr>
          <a:lstStyle/>
          <a:p>
            <a:pPr algn="l"/>
            <a:r>
              <a:rPr sz="1875" b="1">
                <a:solidFill>
                  <a:srgbClr val="12242C"/>
                </a:solidFill>
                <a:latin typeface="Verdana"/>
              </a:rPr>
              <a:t>One scan, six steps, mostly on the phone</a:t>
            </a:r>
          </a:p>
        </p:txBody>
      </p:sp>
      <p:sp>
        <p:nvSpPr>
          <p:cNvPr id="7" name="Rounded Rectangle 6"/>
          <p:cNvSpPr/>
          <p:nvPr/>
        </p:nvSpPr>
        <p:spPr>
          <a:xfrm>
            <a:off x="722376" y="2606040"/>
            <a:ext cx="1638300" cy="2103120"/>
          </a:xfrm>
          <a:prstGeom prst="roundRect">
            <a:avLst>
              <a:gd name="adj" fmla="val 6000"/>
            </a:avLst>
          </a:prstGeom>
          <a:solidFill>
            <a:srgbClr val="F0F5F6"/>
          </a:solidFill>
          <a:ln>
            <a:noFill/>
          </a:ln>
          <a:effectLst/>
        </p:spPr>
        <p:txBody>
          <a:bodyPr rtlCol="0" anchor="ctr"/>
          <a:lstStyle/>
          <a:p>
            <a:pPr algn="ctr"/>
          </a:p>
        </p:txBody>
      </p:sp>
      <p:sp>
        <p:nvSpPr>
          <p:cNvPr id="8" name="TextBox 7"/>
          <p:cNvSpPr txBox="1"/>
          <p:nvPr/>
        </p:nvSpPr>
        <p:spPr>
          <a:xfrm>
            <a:off x="886968" y="2743200"/>
            <a:ext cx="1363980" cy="548640"/>
          </a:xfrm>
          <a:prstGeom prst="rect">
            <a:avLst/>
          </a:prstGeom>
          <a:noFill/>
        </p:spPr>
        <p:txBody>
          <a:bodyPr wrap="square" lIns="0" rIns="0" tIns="0" bIns="0" anchor="t">
            <a:spAutoFit/>
          </a:bodyPr>
          <a:lstStyle/>
          <a:p>
            <a:pPr algn="l"/>
            <a:r>
              <a:rPr sz="3000" b="1">
                <a:solidFill>
                  <a:srgbClr val="43D5E8"/>
                </a:solidFill>
                <a:latin typeface="Verdana"/>
              </a:rPr>
              <a:t>01</a:t>
            </a:r>
          </a:p>
        </p:txBody>
      </p:sp>
      <p:sp>
        <p:nvSpPr>
          <p:cNvPr id="9" name="TextBox 8"/>
          <p:cNvSpPr txBox="1"/>
          <p:nvPr/>
        </p:nvSpPr>
        <p:spPr>
          <a:xfrm>
            <a:off x="886968" y="3337560"/>
            <a:ext cx="1363980" cy="1280160"/>
          </a:xfrm>
          <a:prstGeom prst="rect">
            <a:avLst/>
          </a:prstGeom>
          <a:noFill/>
        </p:spPr>
        <p:txBody>
          <a:bodyPr wrap="square" lIns="0" rIns="0" tIns="0" bIns="0" anchor="t">
            <a:spAutoFit/>
          </a:bodyPr>
          <a:lstStyle/>
          <a:p>
            <a:pPr algn="l">
              <a:spcAft>
                <a:spcPts val="600"/>
              </a:spcAft>
            </a:pPr>
            <a:r>
              <a:rPr sz="1400" b="1">
                <a:solidFill>
                  <a:srgbClr val="12242C"/>
                </a:solidFill>
                <a:latin typeface="Verdana"/>
              </a:rPr>
              <a:t>Camera</a:t>
            </a:r>
          </a:p>
          <a:p>
            <a:pPr algn="l"/>
            <a:r>
              <a:rPr sz="1200" b="0">
                <a:solidFill>
                  <a:srgbClr val="63777F"/>
                </a:solidFill>
                <a:latin typeface="Verdana"/>
              </a:rPr>
              <a:t>Live guidance and auto-capture</a:t>
            </a:r>
          </a:p>
        </p:txBody>
      </p:sp>
      <p:sp>
        <p:nvSpPr>
          <p:cNvPr id="10" name="Rounded Rectangle 9"/>
          <p:cNvSpPr/>
          <p:nvPr/>
        </p:nvSpPr>
        <p:spPr>
          <a:xfrm>
            <a:off x="2543556" y="2606040"/>
            <a:ext cx="1638300" cy="2103120"/>
          </a:xfrm>
          <a:prstGeom prst="roundRect">
            <a:avLst>
              <a:gd name="adj" fmla="val 6000"/>
            </a:avLst>
          </a:prstGeom>
          <a:solidFill>
            <a:srgbClr val="F0F5F6"/>
          </a:solidFill>
          <a:ln>
            <a:noFill/>
          </a:ln>
          <a:effectLst/>
        </p:spPr>
        <p:txBody>
          <a:bodyPr rtlCol="0" anchor="ctr"/>
          <a:lstStyle/>
          <a:p>
            <a:pPr algn="ctr"/>
          </a:p>
        </p:txBody>
      </p:sp>
      <p:sp>
        <p:nvSpPr>
          <p:cNvPr id="11" name="TextBox 10"/>
          <p:cNvSpPr txBox="1"/>
          <p:nvPr/>
        </p:nvSpPr>
        <p:spPr>
          <a:xfrm>
            <a:off x="2708148" y="2743200"/>
            <a:ext cx="1363980" cy="548640"/>
          </a:xfrm>
          <a:prstGeom prst="rect">
            <a:avLst/>
          </a:prstGeom>
          <a:noFill/>
        </p:spPr>
        <p:txBody>
          <a:bodyPr wrap="square" lIns="0" rIns="0" tIns="0" bIns="0" anchor="t">
            <a:spAutoFit/>
          </a:bodyPr>
          <a:lstStyle/>
          <a:p>
            <a:pPr algn="l"/>
            <a:r>
              <a:rPr sz="3000" b="1">
                <a:solidFill>
                  <a:srgbClr val="43D5E8"/>
                </a:solidFill>
                <a:latin typeface="Verdana"/>
              </a:rPr>
              <a:t>02</a:t>
            </a:r>
          </a:p>
        </p:txBody>
      </p:sp>
      <p:sp>
        <p:nvSpPr>
          <p:cNvPr id="12" name="TextBox 11"/>
          <p:cNvSpPr txBox="1"/>
          <p:nvPr/>
        </p:nvSpPr>
        <p:spPr>
          <a:xfrm>
            <a:off x="2708148" y="3337560"/>
            <a:ext cx="1363980" cy="1280160"/>
          </a:xfrm>
          <a:prstGeom prst="rect">
            <a:avLst/>
          </a:prstGeom>
          <a:noFill/>
        </p:spPr>
        <p:txBody>
          <a:bodyPr wrap="square" lIns="0" rIns="0" tIns="0" bIns="0" anchor="t">
            <a:spAutoFit/>
          </a:bodyPr>
          <a:lstStyle/>
          <a:p>
            <a:pPr algn="l">
              <a:spcAft>
                <a:spcPts val="600"/>
              </a:spcAft>
            </a:pPr>
            <a:r>
              <a:rPr sz="1400" b="1">
                <a:solidFill>
                  <a:srgbClr val="12242C"/>
                </a:solidFill>
                <a:latin typeface="Verdana"/>
              </a:rPr>
              <a:t>Quality check</a:t>
            </a:r>
          </a:p>
          <a:p>
            <a:pPr algn="l"/>
            <a:r>
              <a:rPr sz="1200" b="0">
                <a:solidFill>
                  <a:srgbClr val="63777F"/>
                </a:solidFill>
                <a:latin typeface="Verdana"/>
              </a:rPr>
              <a:t>Rejects blur, glare, darkness</a:t>
            </a:r>
          </a:p>
        </p:txBody>
      </p:sp>
      <p:sp>
        <p:nvSpPr>
          <p:cNvPr id="13" name="Rounded Rectangle 12"/>
          <p:cNvSpPr/>
          <p:nvPr/>
        </p:nvSpPr>
        <p:spPr>
          <a:xfrm>
            <a:off x="4364736" y="2606040"/>
            <a:ext cx="1638300" cy="2103120"/>
          </a:xfrm>
          <a:prstGeom prst="roundRect">
            <a:avLst>
              <a:gd name="adj" fmla="val 6000"/>
            </a:avLst>
          </a:prstGeom>
          <a:solidFill>
            <a:srgbClr val="030707"/>
          </a:solidFill>
          <a:ln>
            <a:noFill/>
          </a:ln>
          <a:effectLst/>
        </p:spPr>
        <p:txBody>
          <a:bodyPr rtlCol="0" anchor="ctr"/>
          <a:lstStyle/>
          <a:p>
            <a:pPr algn="ctr"/>
          </a:p>
        </p:txBody>
      </p:sp>
      <p:sp>
        <p:nvSpPr>
          <p:cNvPr id="14" name="TextBox 13"/>
          <p:cNvSpPr txBox="1"/>
          <p:nvPr/>
        </p:nvSpPr>
        <p:spPr>
          <a:xfrm>
            <a:off x="4529328" y="2743200"/>
            <a:ext cx="1363980" cy="548640"/>
          </a:xfrm>
          <a:prstGeom prst="rect">
            <a:avLst/>
          </a:prstGeom>
          <a:noFill/>
        </p:spPr>
        <p:txBody>
          <a:bodyPr wrap="square" lIns="0" rIns="0" tIns="0" bIns="0" anchor="t">
            <a:spAutoFit/>
          </a:bodyPr>
          <a:lstStyle/>
          <a:p>
            <a:pPr algn="l"/>
            <a:r>
              <a:rPr sz="3000" b="1">
                <a:solidFill>
                  <a:srgbClr val="43D5E8"/>
                </a:solidFill>
                <a:latin typeface="Verdana"/>
              </a:rPr>
              <a:t>03</a:t>
            </a:r>
          </a:p>
        </p:txBody>
      </p:sp>
      <p:sp>
        <p:nvSpPr>
          <p:cNvPr id="15" name="TextBox 14"/>
          <p:cNvSpPr txBox="1"/>
          <p:nvPr/>
        </p:nvSpPr>
        <p:spPr>
          <a:xfrm>
            <a:off x="4529328" y="3337560"/>
            <a:ext cx="1363980" cy="1280160"/>
          </a:xfrm>
          <a:prstGeom prst="rect">
            <a:avLst/>
          </a:prstGeom>
          <a:noFill/>
        </p:spPr>
        <p:txBody>
          <a:bodyPr wrap="square" lIns="0" rIns="0" tIns="0" bIns="0" anchor="t">
            <a:spAutoFit/>
          </a:bodyPr>
          <a:lstStyle/>
          <a:p>
            <a:pPr algn="l">
              <a:spcAft>
                <a:spcPts val="600"/>
              </a:spcAft>
            </a:pPr>
            <a:r>
              <a:rPr sz="1400" b="1">
                <a:solidFill>
                  <a:srgbClr val="FFFFFF"/>
                </a:solidFill>
                <a:latin typeface="Verdana"/>
              </a:rPr>
              <a:t>Find the pads</a:t>
            </a:r>
          </a:p>
          <a:p>
            <a:pPr algn="l"/>
            <a:r>
              <a:rPr sz="1200" b="0">
                <a:solidFill>
                  <a:srgbClr val="D5E0E2"/>
                </a:solidFill>
                <a:latin typeface="Verdana"/>
              </a:rPr>
              <a:t>YOLO26s AI model (cloud), or on-device detector</a:t>
            </a:r>
          </a:p>
        </p:txBody>
      </p:sp>
      <p:sp>
        <p:nvSpPr>
          <p:cNvPr id="16" name="Rounded Rectangle 15"/>
          <p:cNvSpPr/>
          <p:nvPr/>
        </p:nvSpPr>
        <p:spPr>
          <a:xfrm>
            <a:off x="6185916" y="2606040"/>
            <a:ext cx="1638300" cy="2103120"/>
          </a:xfrm>
          <a:prstGeom prst="roundRect">
            <a:avLst>
              <a:gd name="adj" fmla="val 6000"/>
            </a:avLst>
          </a:prstGeom>
          <a:solidFill>
            <a:srgbClr val="F0F5F6"/>
          </a:solidFill>
          <a:ln>
            <a:noFill/>
          </a:ln>
          <a:effectLst/>
        </p:spPr>
        <p:txBody>
          <a:bodyPr rtlCol="0" anchor="ctr"/>
          <a:lstStyle/>
          <a:p>
            <a:pPr algn="ctr"/>
          </a:p>
        </p:txBody>
      </p:sp>
      <p:sp>
        <p:nvSpPr>
          <p:cNvPr id="17" name="TextBox 16"/>
          <p:cNvSpPr txBox="1"/>
          <p:nvPr/>
        </p:nvSpPr>
        <p:spPr>
          <a:xfrm>
            <a:off x="6350507" y="2743200"/>
            <a:ext cx="1363980" cy="548640"/>
          </a:xfrm>
          <a:prstGeom prst="rect">
            <a:avLst/>
          </a:prstGeom>
          <a:noFill/>
        </p:spPr>
        <p:txBody>
          <a:bodyPr wrap="square" lIns="0" rIns="0" tIns="0" bIns="0" anchor="t">
            <a:spAutoFit/>
          </a:bodyPr>
          <a:lstStyle/>
          <a:p>
            <a:pPr algn="l"/>
            <a:r>
              <a:rPr sz="3000" b="1">
                <a:solidFill>
                  <a:srgbClr val="43D5E8"/>
                </a:solidFill>
                <a:latin typeface="Verdana"/>
              </a:rPr>
              <a:t>04</a:t>
            </a:r>
          </a:p>
        </p:txBody>
      </p:sp>
      <p:sp>
        <p:nvSpPr>
          <p:cNvPr id="18" name="TextBox 17"/>
          <p:cNvSpPr txBox="1"/>
          <p:nvPr/>
        </p:nvSpPr>
        <p:spPr>
          <a:xfrm>
            <a:off x="6350507" y="3337560"/>
            <a:ext cx="1363980" cy="1280160"/>
          </a:xfrm>
          <a:prstGeom prst="rect">
            <a:avLst/>
          </a:prstGeom>
          <a:noFill/>
        </p:spPr>
        <p:txBody>
          <a:bodyPr wrap="square" lIns="0" rIns="0" tIns="0" bIns="0" anchor="t">
            <a:spAutoFit/>
          </a:bodyPr>
          <a:lstStyle/>
          <a:p>
            <a:pPr algn="l">
              <a:spcAft>
                <a:spcPts val="600"/>
              </a:spcAft>
            </a:pPr>
            <a:r>
              <a:rPr sz="1400" b="1">
                <a:solidFill>
                  <a:srgbClr val="12242C"/>
                </a:solidFill>
                <a:latin typeface="Verdana"/>
              </a:rPr>
              <a:t>Read</a:t>
            </a:r>
          </a:p>
          <a:p>
            <a:pPr algn="l"/>
            <a:r>
              <a:rPr sz="1200" b="0">
                <a:solidFill>
                  <a:srgbClr val="63777F"/>
                </a:solidFill>
                <a:latin typeface="Verdana"/>
              </a:rPr>
              <a:t>CIEDE2000 colour match; T/C line ratio</a:t>
            </a:r>
          </a:p>
        </p:txBody>
      </p:sp>
      <p:sp>
        <p:nvSpPr>
          <p:cNvPr id="19" name="Rounded Rectangle 18"/>
          <p:cNvSpPr/>
          <p:nvPr/>
        </p:nvSpPr>
        <p:spPr>
          <a:xfrm>
            <a:off x="8007096" y="2606040"/>
            <a:ext cx="1638300" cy="2103120"/>
          </a:xfrm>
          <a:prstGeom prst="roundRect">
            <a:avLst>
              <a:gd name="adj" fmla="val 6000"/>
            </a:avLst>
          </a:prstGeom>
          <a:solidFill>
            <a:srgbClr val="F0F5F6"/>
          </a:solidFill>
          <a:ln>
            <a:noFill/>
          </a:ln>
          <a:effectLst/>
        </p:spPr>
        <p:txBody>
          <a:bodyPr rtlCol="0" anchor="ctr"/>
          <a:lstStyle/>
          <a:p>
            <a:pPr algn="ctr"/>
          </a:p>
        </p:txBody>
      </p:sp>
      <p:sp>
        <p:nvSpPr>
          <p:cNvPr id="20" name="TextBox 19"/>
          <p:cNvSpPr txBox="1"/>
          <p:nvPr/>
        </p:nvSpPr>
        <p:spPr>
          <a:xfrm>
            <a:off x="8171688" y="2743200"/>
            <a:ext cx="1363980" cy="548640"/>
          </a:xfrm>
          <a:prstGeom prst="rect">
            <a:avLst/>
          </a:prstGeom>
          <a:noFill/>
        </p:spPr>
        <p:txBody>
          <a:bodyPr wrap="square" lIns="0" rIns="0" tIns="0" bIns="0" anchor="t">
            <a:spAutoFit/>
          </a:bodyPr>
          <a:lstStyle/>
          <a:p>
            <a:pPr algn="l"/>
            <a:r>
              <a:rPr sz="3000" b="1">
                <a:solidFill>
                  <a:srgbClr val="43D5E8"/>
                </a:solidFill>
                <a:latin typeface="Verdana"/>
              </a:rPr>
              <a:t>05</a:t>
            </a:r>
          </a:p>
        </p:txBody>
      </p:sp>
      <p:sp>
        <p:nvSpPr>
          <p:cNvPr id="21" name="TextBox 20"/>
          <p:cNvSpPr txBox="1"/>
          <p:nvPr/>
        </p:nvSpPr>
        <p:spPr>
          <a:xfrm>
            <a:off x="8171688" y="3337560"/>
            <a:ext cx="1363980" cy="1280160"/>
          </a:xfrm>
          <a:prstGeom prst="rect">
            <a:avLst/>
          </a:prstGeom>
          <a:noFill/>
        </p:spPr>
        <p:txBody>
          <a:bodyPr wrap="square" lIns="0" rIns="0" tIns="0" bIns="0" anchor="t">
            <a:spAutoFit/>
          </a:bodyPr>
          <a:lstStyle/>
          <a:p>
            <a:pPr algn="l">
              <a:spcAft>
                <a:spcPts val="600"/>
              </a:spcAft>
            </a:pPr>
            <a:r>
              <a:rPr sz="1400" b="1">
                <a:solidFill>
                  <a:srgbClr val="12242C"/>
                </a:solidFill>
                <a:latin typeface="Verdana"/>
              </a:rPr>
              <a:t>Result</a:t>
            </a:r>
          </a:p>
          <a:p>
            <a:pPr algn="l"/>
            <a:r>
              <a:rPr sz="1200" b="0">
                <a:solidFill>
                  <a:srgbClr val="63777F"/>
                </a:solidFill>
                <a:latin typeface="Verdana"/>
              </a:rPr>
              <a:t>Plain-language screening guidance</a:t>
            </a:r>
          </a:p>
        </p:txBody>
      </p:sp>
      <p:sp>
        <p:nvSpPr>
          <p:cNvPr id="22" name="Rounded Rectangle 21"/>
          <p:cNvSpPr/>
          <p:nvPr/>
        </p:nvSpPr>
        <p:spPr>
          <a:xfrm>
            <a:off x="9828276" y="2606040"/>
            <a:ext cx="1638300" cy="2103120"/>
          </a:xfrm>
          <a:prstGeom prst="roundRect">
            <a:avLst>
              <a:gd name="adj" fmla="val 6000"/>
            </a:avLst>
          </a:prstGeom>
          <a:solidFill>
            <a:srgbClr val="F0F5F6"/>
          </a:solidFill>
          <a:ln>
            <a:noFill/>
          </a:ln>
          <a:effectLst/>
        </p:spPr>
        <p:txBody>
          <a:bodyPr rtlCol="0" anchor="ctr"/>
          <a:lstStyle/>
          <a:p>
            <a:pPr algn="ctr"/>
          </a:p>
        </p:txBody>
      </p:sp>
      <p:sp>
        <p:nvSpPr>
          <p:cNvPr id="23" name="TextBox 22"/>
          <p:cNvSpPr txBox="1"/>
          <p:nvPr/>
        </p:nvSpPr>
        <p:spPr>
          <a:xfrm>
            <a:off x="9992868" y="2743200"/>
            <a:ext cx="1363980" cy="548640"/>
          </a:xfrm>
          <a:prstGeom prst="rect">
            <a:avLst/>
          </a:prstGeom>
          <a:noFill/>
        </p:spPr>
        <p:txBody>
          <a:bodyPr wrap="square" lIns="0" rIns="0" tIns="0" bIns="0" anchor="t">
            <a:spAutoFit/>
          </a:bodyPr>
          <a:lstStyle/>
          <a:p>
            <a:pPr algn="l"/>
            <a:r>
              <a:rPr sz="3000" b="1">
                <a:solidFill>
                  <a:srgbClr val="43D5E8"/>
                </a:solidFill>
                <a:latin typeface="Verdana"/>
              </a:rPr>
              <a:t>06</a:t>
            </a:r>
          </a:p>
        </p:txBody>
      </p:sp>
      <p:sp>
        <p:nvSpPr>
          <p:cNvPr id="24" name="TextBox 23"/>
          <p:cNvSpPr txBox="1"/>
          <p:nvPr/>
        </p:nvSpPr>
        <p:spPr>
          <a:xfrm>
            <a:off x="9992868" y="3337560"/>
            <a:ext cx="1363980" cy="1280160"/>
          </a:xfrm>
          <a:prstGeom prst="rect">
            <a:avLst/>
          </a:prstGeom>
          <a:noFill/>
        </p:spPr>
        <p:txBody>
          <a:bodyPr wrap="square" lIns="0" rIns="0" tIns="0" bIns="0" anchor="t">
            <a:spAutoFit/>
          </a:bodyPr>
          <a:lstStyle/>
          <a:p>
            <a:pPr algn="l">
              <a:spcAft>
                <a:spcPts val="600"/>
              </a:spcAft>
            </a:pPr>
            <a:r>
              <a:rPr sz="1400" b="1">
                <a:solidFill>
                  <a:srgbClr val="12242C"/>
                </a:solidFill>
                <a:latin typeface="Verdana"/>
              </a:rPr>
              <a:t>Save</a:t>
            </a:r>
          </a:p>
          <a:p>
            <a:pPr algn="l"/>
            <a:r>
              <a:rPr sz="1200" b="0">
                <a:solidFill>
                  <a:srgbClr val="63777F"/>
                </a:solidFill>
                <a:latin typeface="Verdana"/>
              </a:rPr>
              <a:t>Trends and calendar, on the phone</a:t>
            </a:r>
          </a:p>
        </p:txBody>
      </p:sp>
      <p:sp>
        <p:nvSpPr>
          <p:cNvPr id="25" name="Rounded Rectangle 24"/>
          <p:cNvSpPr/>
          <p:nvPr/>
        </p:nvSpPr>
        <p:spPr>
          <a:xfrm>
            <a:off x="722376" y="4983480"/>
            <a:ext cx="10744200" cy="868680"/>
          </a:xfrm>
          <a:prstGeom prst="roundRect">
            <a:avLst>
              <a:gd name="adj" fmla="val 6000"/>
            </a:avLst>
          </a:prstGeom>
          <a:solidFill>
            <a:srgbClr val="F0F5F6"/>
          </a:solidFill>
          <a:ln>
            <a:noFill/>
          </a:ln>
          <a:effectLst/>
        </p:spPr>
        <p:txBody>
          <a:bodyPr rtlCol="0" anchor="ctr"/>
          <a:lstStyle/>
          <a:p>
            <a:pPr algn="ctr"/>
          </a:p>
        </p:txBody>
      </p:sp>
      <p:sp>
        <p:nvSpPr>
          <p:cNvPr id="26" name="Oval 25"/>
          <p:cNvSpPr/>
          <p:nvPr/>
        </p:nvSpPr>
        <p:spPr>
          <a:xfrm>
            <a:off x="923544" y="5138928"/>
            <a:ext cx="566928" cy="566928"/>
          </a:xfrm>
          <a:prstGeom prst="ellipse">
            <a:avLst/>
          </a:prstGeom>
          <a:solidFill>
            <a:srgbClr val="12242C"/>
          </a:solidFill>
          <a:ln>
            <a:noFill/>
          </a:ln>
          <a:effectLst/>
        </p:spPr>
        <p:txBody>
          <a:bodyPr rtlCol="0" anchor="ctr"/>
          <a:lstStyle/>
          <a:p>
            <a:pPr algn="ctr"/>
          </a:p>
        </p:txBody>
      </p:sp>
      <p:pic>
        <p:nvPicPr>
          <p:cNvPr id="27" name="Icon image-4-1.png" descr="image.png"/>
          <p:cNvPicPr>
            <a:picLocks noChangeAspect="1"/>
          </p:cNvPicPr>
          <p:nvPr/>
        </p:nvPicPr>
        <p:blipFill>
          <a:blip r:embed="rId3"/>
          <a:stretch>
            <a:fillRect/>
          </a:stretch>
        </p:blipFill>
        <p:spPr>
          <a:xfrm>
            <a:off x="1059606" y="5274990"/>
            <a:ext cx="294802" cy="294802"/>
          </a:xfrm>
          <a:prstGeom prst="rect">
            <a:avLst/>
          </a:prstGeom>
        </p:spPr>
      </p:pic>
      <p:sp>
        <p:nvSpPr>
          <p:cNvPr id="28" name="TextBox 27"/>
          <p:cNvSpPr txBox="1"/>
          <p:nvPr/>
        </p:nvSpPr>
        <p:spPr>
          <a:xfrm>
            <a:off x="1682496" y="4983480"/>
            <a:ext cx="9555480" cy="868680"/>
          </a:xfrm>
          <a:prstGeom prst="rect">
            <a:avLst/>
          </a:prstGeom>
          <a:noFill/>
        </p:spPr>
        <p:txBody>
          <a:bodyPr wrap="square" lIns="0" rIns="0" tIns="0" bIns="0" anchor="ctr">
            <a:spAutoFit/>
          </a:bodyPr>
          <a:lstStyle/>
          <a:p>
            <a:pPr algn="l"/>
            <a:r>
              <a:rPr sz="1400" b="0">
                <a:solidFill>
                  <a:srgbClr val="12242C"/>
                </a:solidFill>
                <a:latin typeface="Verdana"/>
              </a:rPr>
              <a:t>Only the photo goes to the AI model. Colour reading and storage stay on the phone, and the model can be switched off.</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CFC"/>
        </a:solidFill>
        <a:effectLst/>
      </p:bgPr>
    </p:bg>
    <p:spTree>
      <p:nvGrpSpPr>
        <p:cNvPr id="1" name=""/>
        <p:cNvGrpSpPr/>
        <p:nvPr/>
      </p:nvGrpSpPr>
      <p:grpSpPr/>
      <p:sp>
        <p:nvSpPr>
          <p:cNvPr id="2" name="Title"/>
          <p:cNvSpPr txBox="1"/>
          <p:nvPr/>
        </p:nvSpPr>
        <p:spPr>
          <a:xfrm>
            <a:off x="722376" y="758952"/>
            <a:ext cx="10744200" cy="704088"/>
          </a:xfrm>
          <a:prstGeom prst="rect">
            <a:avLst/>
          </a:prstGeom>
          <a:noFill/>
        </p:spPr>
        <p:txBody>
          <a:bodyPr wrap="square" lIns="0" rIns="0" tIns="0" bIns="0" anchor="t">
            <a:spAutoFit/>
          </a:bodyPr>
          <a:lstStyle/>
          <a:p>
            <a:pPr algn="l"/>
            <a:r>
              <a:rPr sz="3600" b="1">
                <a:solidFill>
                  <a:srgbClr val="12242C"/>
                </a:solidFill>
                <a:latin typeface="Verdana"/>
              </a:rPr>
              <a:t>Innovation &amp; Impact</a:t>
            </a:r>
          </a:p>
        </p:txBody>
      </p:sp>
      <p:sp>
        <p:nvSpPr>
          <p:cNvPr id="3" name="Divider"/>
          <p:cNvSpPr/>
          <p:nvPr/>
        </p:nvSpPr>
        <p:spPr>
          <a:xfrm>
            <a:off x="722376" y="1762048"/>
            <a:ext cx="10744200" cy="9509"/>
          </a:xfrm>
          <a:prstGeom prst="rect">
            <a:avLst/>
          </a:prstGeom>
          <a:solidFill>
            <a:srgbClr val="DDE6E8"/>
          </a:solidFill>
          <a:ln>
            <a:noFill/>
          </a:ln>
          <a:effectLst/>
        </p:spPr>
        <p:txBody>
          <a:bodyPr rtlCol="0" anchor="ctr"/>
          <a:lstStyle/>
          <a:p>
            <a:pPr algn="ctr"/>
          </a:p>
        </p:txBody>
      </p:sp>
      <p:sp>
        <p:nvSpPr>
          <p:cNvPr id="4" name="Footer"/>
          <p:cNvSpPr txBox="1"/>
          <p:nvPr/>
        </p:nvSpPr>
        <p:spPr>
          <a:xfrm>
            <a:off x="722376" y="6286500"/>
            <a:ext cx="8778240" cy="228600"/>
          </a:xfrm>
          <a:prstGeom prst="rect">
            <a:avLst/>
          </a:prstGeom>
          <a:noFill/>
        </p:spPr>
        <p:txBody>
          <a:bodyPr wrap="square" lIns="0" rIns="0" tIns="0" bIns="0" anchor="t">
            <a:spAutoFit/>
          </a:bodyPr>
          <a:lstStyle/>
          <a:p>
            <a:pPr algn="l"/>
            <a:r>
              <a:rPr sz="1050" b="0">
                <a:solidFill>
                  <a:srgbClr val="63777F"/>
                </a:solidFill>
                <a:latin typeface="Verdana"/>
              </a:rPr>
              <a:t>ECE  /  VVCE, MYSURU</a:t>
            </a:r>
          </a:p>
        </p:txBody>
      </p:sp>
      <p:sp>
        <p:nvSpPr>
          <p:cNvPr id="5" name="Page number"/>
          <p:cNvSpPr txBox="1"/>
          <p:nvPr/>
        </p:nvSpPr>
        <p:spPr>
          <a:xfrm>
            <a:off x="10378440" y="6286500"/>
            <a:ext cx="1088136" cy="228600"/>
          </a:xfrm>
          <a:prstGeom prst="rect">
            <a:avLst/>
          </a:prstGeom>
          <a:noFill/>
        </p:spPr>
        <p:txBody>
          <a:bodyPr wrap="square" lIns="0" rIns="0" tIns="0" bIns="0" anchor="t">
            <a:spAutoFit/>
          </a:bodyPr>
          <a:lstStyle/>
          <a:p>
            <a:pPr algn="r"/>
            <a:r>
              <a:rPr sz="1050" b="0">
                <a:solidFill>
                  <a:srgbClr val="63777F"/>
                </a:solidFill>
                <a:latin typeface="Verdana"/>
              </a:rPr>
              <a:t>05 / 07</a:t>
            </a:r>
          </a:p>
        </p:txBody>
      </p:sp>
      <p:sp>
        <p:nvSpPr>
          <p:cNvPr id="6" name="TextBox 5"/>
          <p:cNvSpPr txBox="1"/>
          <p:nvPr/>
        </p:nvSpPr>
        <p:spPr>
          <a:xfrm>
            <a:off x="722376" y="2011680"/>
            <a:ext cx="6675120" cy="402336"/>
          </a:xfrm>
          <a:prstGeom prst="rect">
            <a:avLst/>
          </a:prstGeom>
          <a:noFill/>
        </p:spPr>
        <p:txBody>
          <a:bodyPr wrap="square" lIns="0" rIns="0" tIns="0" bIns="0" anchor="t">
            <a:spAutoFit/>
          </a:bodyPr>
          <a:lstStyle/>
          <a:p>
            <a:pPr algn="l"/>
            <a:r>
              <a:rPr sz="1875" b="1">
                <a:solidFill>
                  <a:srgbClr val="12242C"/>
                </a:solidFill>
                <a:latin typeface="Verdana"/>
              </a:rPr>
              <a:t>What makes it innovative?</a:t>
            </a:r>
          </a:p>
        </p:txBody>
      </p:sp>
      <p:sp>
        <p:nvSpPr>
          <p:cNvPr id="7" name="TextBox 6"/>
          <p:cNvSpPr txBox="1"/>
          <p:nvPr/>
        </p:nvSpPr>
        <p:spPr>
          <a:xfrm>
            <a:off x="722376" y="2450592"/>
            <a:ext cx="6675120" cy="2103120"/>
          </a:xfrm>
          <a:prstGeom prst="rect">
            <a:avLst/>
          </a:prstGeom>
          <a:noFill/>
        </p:spPr>
        <p:txBody>
          <a:bodyPr wrap="square" lIns="0" rIns="0" tIns="0" bIns="0" anchor="t">
            <a:spAutoFit/>
          </a:bodyPr>
          <a:lstStyle/>
          <a:p>
            <a:pPr algn="l" marL="228600" indent="-228600">
              <a:spcAft>
                <a:spcPts val="400"/>
              </a:spcAft>
              <a:buChar char="•"/>
            </a:pPr>
            <a:r>
              <a:rPr sz="1300" b="1">
                <a:solidFill>
                  <a:srgbClr val="12242C"/>
                </a:solidFill>
                <a:latin typeface="Verdana"/>
              </a:rPr>
              <a:t>No reader device: </a:t>
            </a:r>
            <a:r>
              <a:rPr sz="1300" b="0">
                <a:solidFill>
                  <a:srgbClr val="63777F"/>
                </a:solidFill>
                <a:latin typeface="Verdana"/>
              </a:rPr>
              <a:t>uses the phone people already own, in a browser</a:t>
            </a:r>
          </a:p>
          <a:p>
            <a:pPr algn="l" marL="228600" indent="-228600">
              <a:spcAft>
                <a:spcPts val="400"/>
              </a:spcAft>
              <a:buChar char="•"/>
            </a:pPr>
            <a:r>
              <a:rPr sz="1300" b="1">
                <a:solidFill>
                  <a:srgbClr val="12242C"/>
                </a:solidFill>
                <a:latin typeface="Verdana"/>
              </a:rPr>
              <a:t>Any angle, any background: </a:t>
            </a:r>
            <a:r>
              <a:rPr sz="1300" b="0">
                <a:solidFill>
                  <a:srgbClr val="63777F"/>
                </a:solidFill>
                <a:latin typeface="Verdana"/>
              </a:rPr>
              <a:t>PCA finds the strip; no calibration card</a:t>
            </a:r>
          </a:p>
          <a:p>
            <a:pPr algn="l" marL="228600" indent="-228600">
              <a:spcAft>
                <a:spcPts val="400"/>
              </a:spcAft>
              <a:buChar char="•"/>
            </a:pPr>
            <a:r>
              <a:rPr sz="1300" b="1">
                <a:solidFill>
                  <a:srgbClr val="12242C"/>
                </a:solidFill>
                <a:latin typeface="Verdana"/>
              </a:rPr>
              <a:t>Self-calibrating colour: </a:t>
            </a:r>
            <a:r>
              <a:rPr sz="1300" b="0">
                <a:solidFill>
                  <a:srgbClr val="63777F"/>
                </a:solidFill>
                <a:latin typeface="Verdana"/>
              </a:rPr>
              <a:t>each pad is white-balanced against the strip's own backing</a:t>
            </a:r>
          </a:p>
          <a:p>
            <a:pPr algn="l" marL="228600" indent="-228600">
              <a:spcAft>
                <a:spcPts val="400"/>
              </a:spcAft>
              <a:buChar char="•"/>
            </a:pPr>
            <a:r>
              <a:rPr sz="1300" b="1">
                <a:solidFill>
                  <a:srgbClr val="12242C"/>
                </a:solidFill>
                <a:latin typeface="Verdana"/>
              </a:rPr>
              <a:t>Explainable hybrid AI: </a:t>
            </a:r>
            <a:r>
              <a:rPr sz="1300" b="0">
                <a:solidFill>
                  <a:srgbClr val="63777F"/>
                </a:solidFill>
                <a:latin typeface="Verdana"/>
              </a:rPr>
              <a:t>YOLO26s finds the pads; CIEDE2000 colour science reads them</a:t>
            </a:r>
          </a:p>
          <a:p>
            <a:pPr algn="l" marL="228600" indent="-228600">
              <a:spcAft>
                <a:spcPts val="400"/>
              </a:spcAft>
              <a:buChar char="•"/>
            </a:pPr>
            <a:r>
              <a:rPr sz="1300" b="1">
                <a:solidFill>
                  <a:srgbClr val="12242C"/>
                </a:solidFill>
                <a:latin typeface="Verdana"/>
              </a:rPr>
              <a:t>Honest about uncertainty: </a:t>
            </a:r>
            <a:r>
              <a:rPr sz="1300" b="0">
                <a:solidFill>
                  <a:srgbClr val="63777F"/>
                </a:solidFill>
                <a:latin typeface="Verdana"/>
              </a:rPr>
              <a:t>per-pad confidence, and "unreadable" instead of a guess</a:t>
            </a:r>
          </a:p>
          <a:p>
            <a:pPr algn="l" marL="228600" indent="-228600">
              <a:spcAft>
                <a:spcPts val="400"/>
              </a:spcAft>
              <a:buChar char="•"/>
            </a:pPr>
            <a:r>
              <a:rPr sz="1300" b="1">
                <a:solidFill>
                  <a:srgbClr val="12242C"/>
                </a:solidFill>
                <a:latin typeface="Verdana"/>
              </a:rPr>
              <a:t>From result to care: </a:t>
            </a:r>
            <a:r>
              <a:rPr sz="1300" b="0">
                <a:solidFill>
                  <a:srgbClr val="63777F"/>
                </a:solidFill>
                <a:latin typeface="Verdana"/>
              </a:rPr>
              <a:t>a map of nearby clinics, hospitals and pharmacies</a:t>
            </a:r>
          </a:p>
        </p:txBody>
      </p:sp>
      <p:sp>
        <p:nvSpPr>
          <p:cNvPr id="8" name="TextBox 7"/>
          <p:cNvSpPr txBox="1"/>
          <p:nvPr/>
        </p:nvSpPr>
        <p:spPr>
          <a:xfrm>
            <a:off x="722376" y="4754880"/>
            <a:ext cx="6675120" cy="402336"/>
          </a:xfrm>
          <a:prstGeom prst="rect">
            <a:avLst/>
          </a:prstGeom>
          <a:noFill/>
        </p:spPr>
        <p:txBody>
          <a:bodyPr wrap="square" lIns="0" rIns="0" tIns="0" bIns="0" anchor="t">
            <a:spAutoFit/>
          </a:bodyPr>
          <a:lstStyle/>
          <a:p>
            <a:pPr algn="l"/>
            <a:r>
              <a:rPr sz="1875" b="1">
                <a:solidFill>
                  <a:srgbClr val="12242C"/>
                </a:solidFill>
                <a:latin typeface="Verdana"/>
              </a:rPr>
              <a:t>What impact could it create?</a:t>
            </a:r>
          </a:p>
        </p:txBody>
      </p:sp>
      <p:sp>
        <p:nvSpPr>
          <p:cNvPr id="9" name="TextBox 8"/>
          <p:cNvSpPr txBox="1"/>
          <p:nvPr/>
        </p:nvSpPr>
        <p:spPr>
          <a:xfrm>
            <a:off x="722376" y="5175504"/>
            <a:ext cx="6675120" cy="914400"/>
          </a:xfrm>
          <a:prstGeom prst="rect">
            <a:avLst/>
          </a:prstGeom>
          <a:noFill/>
        </p:spPr>
        <p:txBody>
          <a:bodyPr wrap="square" lIns="0" rIns="0" tIns="0" bIns="0" anchor="t">
            <a:spAutoFit/>
          </a:bodyPr>
          <a:lstStyle/>
          <a:p>
            <a:pPr algn="l" marL="228600" indent="-228600">
              <a:spcAft>
                <a:spcPts val="400"/>
              </a:spcAft>
              <a:buChar char="•"/>
            </a:pPr>
            <a:r>
              <a:rPr sz="1300" b="1">
                <a:solidFill>
                  <a:srgbClr val="12242C"/>
                </a:solidFill>
                <a:latin typeface="Verdana"/>
              </a:rPr>
              <a:t>Social: </a:t>
            </a:r>
            <a:r>
              <a:rPr sz="1300" b="0">
                <a:solidFill>
                  <a:srgbClr val="63777F"/>
                </a:solidFill>
                <a:latin typeface="Verdana"/>
              </a:rPr>
              <a:t>earlier doctor visits when a result is flagged; private testing at home</a:t>
            </a:r>
          </a:p>
          <a:p>
            <a:pPr algn="l" marL="228600" indent="-228600">
              <a:spcAft>
                <a:spcPts val="400"/>
              </a:spcAft>
              <a:buChar char="•"/>
            </a:pPr>
            <a:r>
              <a:rPr sz="1300" b="1">
                <a:solidFill>
                  <a:srgbClr val="12242C"/>
                </a:solidFill>
                <a:latin typeface="Verdana"/>
              </a:rPr>
              <a:t>Economic: </a:t>
            </a:r>
            <a:r>
              <a:rPr sz="1300" b="0">
                <a:solidFill>
                  <a:srgbClr val="63777F"/>
                </a:solidFill>
                <a:latin typeface="Verdana"/>
              </a:rPr>
              <a:t>free app; a test costs only the strip (₹6.30 urine, ₹10–12 ovulation)</a:t>
            </a:r>
          </a:p>
          <a:p>
            <a:pPr algn="l" marL="228600" indent="-228600">
              <a:spcAft>
                <a:spcPts val="400"/>
              </a:spcAft>
              <a:buChar char="•"/>
            </a:pPr>
            <a:r>
              <a:rPr sz="1300" b="1">
                <a:solidFill>
                  <a:srgbClr val="12242C"/>
                </a:solidFill>
                <a:latin typeface="Verdana"/>
              </a:rPr>
              <a:t>Environmental: </a:t>
            </a:r>
            <a:r>
              <a:rPr sz="1300" b="0">
                <a:solidFill>
                  <a:srgbClr val="63777F"/>
                </a:solidFill>
                <a:latin typeface="Verdana"/>
              </a:rPr>
              <a:t>no extra hardware, paperless records, no always-on server</a:t>
            </a:r>
          </a:p>
        </p:txBody>
      </p:sp>
      <p:sp>
        <p:nvSpPr>
          <p:cNvPr id="10" name="Rounded Rectangle 9"/>
          <p:cNvSpPr/>
          <p:nvPr/>
        </p:nvSpPr>
        <p:spPr>
          <a:xfrm>
            <a:off x="7726679" y="2011680"/>
            <a:ext cx="3739896" cy="4069080"/>
          </a:xfrm>
          <a:prstGeom prst="roundRect">
            <a:avLst>
              <a:gd name="adj" fmla="val 6000"/>
            </a:avLst>
          </a:prstGeom>
          <a:solidFill>
            <a:srgbClr val="030707"/>
          </a:solidFill>
          <a:ln>
            <a:noFill/>
          </a:ln>
          <a:effectLst/>
        </p:spPr>
        <p:txBody>
          <a:bodyPr rtlCol="0" anchor="ctr"/>
          <a:lstStyle/>
          <a:p>
            <a:pPr algn="ctr"/>
          </a:p>
        </p:txBody>
      </p:sp>
      <p:sp>
        <p:nvSpPr>
          <p:cNvPr id="11" name="TextBox 10"/>
          <p:cNvSpPr txBox="1"/>
          <p:nvPr/>
        </p:nvSpPr>
        <p:spPr>
          <a:xfrm>
            <a:off x="8001000" y="2176272"/>
            <a:ext cx="3191256" cy="320040"/>
          </a:xfrm>
          <a:prstGeom prst="rect">
            <a:avLst/>
          </a:prstGeom>
          <a:noFill/>
        </p:spPr>
        <p:txBody>
          <a:bodyPr wrap="square" lIns="0" rIns="0" tIns="0" bIns="0" anchor="t">
            <a:spAutoFit/>
          </a:bodyPr>
          <a:lstStyle/>
          <a:p>
            <a:pPr algn="l"/>
            <a:r>
              <a:rPr sz="1100" b="1">
                <a:solidFill>
                  <a:srgbClr val="AFC0C4"/>
                </a:solidFill>
                <a:latin typeface="Verdana"/>
              </a:rPr>
              <a:t>AI MODEL ACCURACY</a:t>
            </a:r>
          </a:p>
        </p:txBody>
      </p:sp>
      <p:sp>
        <p:nvSpPr>
          <p:cNvPr id="12" name="TextBox 11"/>
          <p:cNvSpPr txBox="1"/>
          <p:nvPr/>
        </p:nvSpPr>
        <p:spPr>
          <a:xfrm>
            <a:off x="8001000" y="2560320"/>
            <a:ext cx="1691640" cy="548640"/>
          </a:xfrm>
          <a:prstGeom prst="rect">
            <a:avLst/>
          </a:prstGeom>
          <a:noFill/>
        </p:spPr>
        <p:txBody>
          <a:bodyPr wrap="square" lIns="0" rIns="0" tIns="0" bIns="0" anchor="ctr">
            <a:spAutoFit/>
          </a:bodyPr>
          <a:lstStyle/>
          <a:p>
            <a:pPr algn="l"/>
            <a:r>
              <a:rPr sz="2600" b="1">
                <a:solidFill>
                  <a:srgbClr val="43D5E8"/>
                </a:solidFill>
                <a:latin typeface="Verdana"/>
              </a:rPr>
              <a:t>82.5%</a:t>
            </a:r>
          </a:p>
        </p:txBody>
      </p:sp>
      <p:sp>
        <p:nvSpPr>
          <p:cNvPr id="13" name="TextBox 12"/>
          <p:cNvSpPr txBox="1"/>
          <p:nvPr/>
        </p:nvSpPr>
        <p:spPr>
          <a:xfrm>
            <a:off x="9646919" y="2578608"/>
            <a:ext cx="1636776" cy="868680"/>
          </a:xfrm>
          <a:prstGeom prst="rect">
            <a:avLst/>
          </a:prstGeom>
          <a:noFill/>
        </p:spPr>
        <p:txBody>
          <a:bodyPr wrap="square" lIns="0" rIns="0" tIns="0" bIns="0" anchor="t">
            <a:spAutoFit/>
          </a:bodyPr>
          <a:lstStyle/>
          <a:p>
            <a:pPr algn="l">
              <a:spcAft>
                <a:spcPts val="200"/>
              </a:spcAft>
            </a:pPr>
            <a:r>
              <a:rPr sz="1100" b="1">
                <a:solidFill>
                  <a:srgbClr val="FFFFFF"/>
                </a:solidFill>
                <a:latin typeface="Verdana"/>
              </a:rPr>
              <a:t>Urine pad detector</a:t>
            </a:r>
          </a:p>
          <a:p>
            <a:pPr algn="l"/>
            <a:r>
              <a:rPr sz="1000" b="0">
                <a:solidFill>
                  <a:srgbClr val="D5E0E2"/>
                </a:solidFill>
                <a:latin typeface="Verdana"/>
              </a:rPr>
              <a:t>mAP@50, 11 classes, 49 unseen images</a:t>
            </a:r>
          </a:p>
        </p:txBody>
      </p:sp>
      <p:sp>
        <p:nvSpPr>
          <p:cNvPr id="14" name="TextBox 13"/>
          <p:cNvSpPr txBox="1"/>
          <p:nvPr/>
        </p:nvSpPr>
        <p:spPr>
          <a:xfrm>
            <a:off x="8001000" y="3547872"/>
            <a:ext cx="1691640" cy="548640"/>
          </a:xfrm>
          <a:prstGeom prst="rect">
            <a:avLst/>
          </a:prstGeom>
          <a:noFill/>
        </p:spPr>
        <p:txBody>
          <a:bodyPr wrap="square" lIns="0" rIns="0" tIns="0" bIns="0" anchor="ctr">
            <a:spAutoFit/>
          </a:bodyPr>
          <a:lstStyle/>
          <a:p>
            <a:pPr algn="l"/>
            <a:r>
              <a:rPr sz="2600" b="1">
                <a:solidFill>
                  <a:srgbClr val="43D5E8"/>
                </a:solidFill>
                <a:latin typeface="Verdana"/>
              </a:rPr>
              <a:t>72.8%</a:t>
            </a:r>
          </a:p>
        </p:txBody>
      </p:sp>
      <p:sp>
        <p:nvSpPr>
          <p:cNvPr id="15" name="TextBox 14"/>
          <p:cNvSpPr txBox="1"/>
          <p:nvPr/>
        </p:nvSpPr>
        <p:spPr>
          <a:xfrm>
            <a:off x="9646919" y="3566160"/>
            <a:ext cx="1636776" cy="868680"/>
          </a:xfrm>
          <a:prstGeom prst="rect">
            <a:avLst/>
          </a:prstGeom>
          <a:noFill/>
        </p:spPr>
        <p:txBody>
          <a:bodyPr wrap="square" lIns="0" rIns="0" tIns="0" bIns="0" anchor="t">
            <a:spAutoFit/>
          </a:bodyPr>
          <a:lstStyle/>
          <a:p>
            <a:pPr algn="l">
              <a:spcAft>
                <a:spcPts val="200"/>
              </a:spcAft>
            </a:pPr>
            <a:r>
              <a:rPr sz="1100" b="1">
                <a:solidFill>
                  <a:srgbClr val="FFFFFF"/>
                </a:solidFill>
                <a:latin typeface="Verdana"/>
              </a:rPr>
              <a:t>Test-kit type detector</a:t>
            </a:r>
          </a:p>
          <a:p>
            <a:pPr algn="l"/>
            <a:r>
              <a:rPr sz="1000" b="0">
                <a:solidFill>
                  <a:srgbClr val="D5E0E2"/>
                </a:solidFill>
                <a:latin typeface="Verdana"/>
              </a:rPr>
              <a:t>mAP@50, 9 kit types, 48 unseen images</a:t>
            </a:r>
          </a:p>
        </p:txBody>
      </p:sp>
      <p:sp>
        <p:nvSpPr>
          <p:cNvPr id="16" name="TextBox 15"/>
          <p:cNvSpPr txBox="1"/>
          <p:nvPr/>
        </p:nvSpPr>
        <p:spPr>
          <a:xfrm>
            <a:off x="8001000" y="4535424"/>
            <a:ext cx="1691640" cy="548640"/>
          </a:xfrm>
          <a:prstGeom prst="rect">
            <a:avLst/>
          </a:prstGeom>
          <a:noFill/>
        </p:spPr>
        <p:txBody>
          <a:bodyPr wrap="square" lIns="0" rIns="0" tIns="0" bIns="0" anchor="ctr">
            <a:spAutoFit/>
          </a:bodyPr>
          <a:lstStyle/>
          <a:p>
            <a:pPr algn="l"/>
            <a:r>
              <a:rPr sz="2600" b="1">
                <a:solidFill>
                  <a:srgbClr val="43D5E8"/>
                </a:solidFill>
                <a:latin typeface="Verdana"/>
              </a:rPr>
              <a:t>78.6%</a:t>
            </a:r>
          </a:p>
        </p:txBody>
      </p:sp>
      <p:sp>
        <p:nvSpPr>
          <p:cNvPr id="17" name="TextBox 16"/>
          <p:cNvSpPr txBox="1"/>
          <p:nvPr/>
        </p:nvSpPr>
        <p:spPr>
          <a:xfrm>
            <a:off x="9646919" y="4553712"/>
            <a:ext cx="1636776" cy="868680"/>
          </a:xfrm>
          <a:prstGeom prst="rect">
            <a:avLst/>
          </a:prstGeom>
          <a:noFill/>
        </p:spPr>
        <p:txBody>
          <a:bodyPr wrap="square" lIns="0" rIns="0" tIns="0" bIns="0" anchor="t">
            <a:spAutoFit/>
          </a:bodyPr>
          <a:lstStyle/>
          <a:p>
            <a:pPr algn="l">
              <a:spcAft>
                <a:spcPts val="200"/>
              </a:spcAft>
            </a:pPr>
            <a:r>
              <a:rPr sz="1100" b="1">
                <a:solidFill>
                  <a:srgbClr val="FFFFFF"/>
                </a:solidFill>
                <a:latin typeface="Verdana"/>
              </a:rPr>
              <a:t>Ovulation tests found</a:t>
            </a:r>
          </a:p>
          <a:p>
            <a:pPr algn="l"/>
            <a:r>
              <a:rPr sz="1000" b="0">
                <a:solidFill>
                  <a:srgbClr val="D5E0E2"/>
                </a:solidFill>
                <a:latin typeface="Verdana"/>
              </a:rPr>
              <a:t>precision and recall, 48 test images</a:t>
            </a:r>
          </a:p>
        </p:txBody>
      </p:sp>
      <p:sp>
        <p:nvSpPr>
          <p:cNvPr id="18" name="TextBox 17"/>
          <p:cNvSpPr txBox="1"/>
          <p:nvPr/>
        </p:nvSpPr>
        <p:spPr>
          <a:xfrm>
            <a:off x="8001000" y="5532120"/>
            <a:ext cx="3191256" cy="457200"/>
          </a:xfrm>
          <a:prstGeom prst="rect">
            <a:avLst/>
          </a:prstGeom>
          <a:noFill/>
        </p:spPr>
        <p:txBody>
          <a:bodyPr wrap="square" lIns="0" rIns="0" tIns="0" bIns="0" anchor="t">
            <a:spAutoFit/>
          </a:bodyPr>
          <a:lstStyle/>
          <a:p>
            <a:pPr algn="l"/>
            <a:r>
              <a:rPr sz="1000" b="0">
                <a:solidFill>
                  <a:srgbClr val="AFC0C4"/>
                </a:solidFill>
                <a:latin typeface="Verdana"/>
              </a:rPr>
              <a:t>Detection accuracy, not clinical accuracy.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CFC"/>
        </a:solidFill>
        <a:effectLst/>
      </p:bgPr>
    </p:bg>
    <p:spTree>
      <p:nvGrpSpPr>
        <p:cNvPr id="1" name=""/>
        <p:cNvGrpSpPr/>
        <p:nvPr/>
      </p:nvGrpSpPr>
      <p:grpSpPr/>
      <p:sp>
        <p:nvSpPr>
          <p:cNvPr id="2" name="Title"/>
          <p:cNvSpPr txBox="1"/>
          <p:nvPr/>
        </p:nvSpPr>
        <p:spPr>
          <a:xfrm>
            <a:off x="722376" y="758952"/>
            <a:ext cx="10744200" cy="704088"/>
          </a:xfrm>
          <a:prstGeom prst="rect">
            <a:avLst/>
          </a:prstGeom>
          <a:noFill/>
        </p:spPr>
        <p:txBody>
          <a:bodyPr wrap="square" lIns="0" rIns="0" tIns="0" bIns="0" anchor="t">
            <a:spAutoFit/>
          </a:bodyPr>
          <a:lstStyle/>
          <a:p>
            <a:pPr algn="l"/>
            <a:r>
              <a:rPr sz="3600" b="1">
                <a:solidFill>
                  <a:srgbClr val="12242C"/>
                </a:solidFill>
                <a:latin typeface="Verdana"/>
              </a:rPr>
              <a:t>Future Scope</a:t>
            </a:r>
          </a:p>
        </p:txBody>
      </p:sp>
      <p:sp>
        <p:nvSpPr>
          <p:cNvPr id="3" name="Divider"/>
          <p:cNvSpPr/>
          <p:nvPr/>
        </p:nvSpPr>
        <p:spPr>
          <a:xfrm>
            <a:off x="722376" y="1762048"/>
            <a:ext cx="10744200" cy="9509"/>
          </a:xfrm>
          <a:prstGeom prst="rect">
            <a:avLst/>
          </a:prstGeom>
          <a:solidFill>
            <a:srgbClr val="DDE6E8"/>
          </a:solidFill>
          <a:ln>
            <a:noFill/>
          </a:ln>
          <a:effectLst/>
        </p:spPr>
        <p:txBody>
          <a:bodyPr rtlCol="0" anchor="ctr"/>
          <a:lstStyle/>
          <a:p>
            <a:pPr algn="ctr"/>
          </a:p>
        </p:txBody>
      </p:sp>
      <p:sp>
        <p:nvSpPr>
          <p:cNvPr id="4" name="Footer"/>
          <p:cNvSpPr txBox="1"/>
          <p:nvPr/>
        </p:nvSpPr>
        <p:spPr>
          <a:xfrm>
            <a:off x="722376" y="6286500"/>
            <a:ext cx="8778240" cy="228600"/>
          </a:xfrm>
          <a:prstGeom prst="rect">
            <a:avLst/>
          </a:prstGeom>
          <a:noFill/>
        </p:spPr>
        <p:txBody>
          <a:bodyPr wrap="square" lIns="0" rIns="0" tIns="0" bIns="0" anchor="t">
            <a:spAutoFit/>
          </a:bodyPr>
          <a:lstStyle/>
          <a:p>
            <a:pPr algn="l"/>
            <a:r>
              <a:rPr sz="1050" b="0">
                <a:solidFill>
                  <a:srgbClr val="63777F"/>
                </a:solidFill>
                <a:latin typeface="Verdana"/>
              </a:rPr>
              <a:t>ECE  /  VVCE, MYSURU</a:t>
            </a:r>
          </a:p>
        </p:txBody>
      </p:sp>
      <p:sp>
        <p:nvSpPr>
          <p:cNvPr id="5" name="Page number"/>
          <p:cNvSpPr txBox="1"/>
          <p:nvPr/>
        </p:nvSpPr>
        <p:spPr>
          <a:xfrm>
            <a:off x="10378440" y="6286500"/>
            <a:ext cx="1088136" cy="228600"/>
          </a:xfrm>
          <a:prstGeom prst="rect">
            <a:avLst/>
          </a:prstGeom>
          <a:noFill/>
        </p:spPr>
        <p:txBody>
          <a:bodyPr wrap="square" lIns="0" rIns="0" tIns="0" bIns="0" anchor="t">
            <a:spAutoFit/>
          </a:bodyPr>
          <a:lstStyle/>
          <a:p>
            <a:pPr algn="r"/>
            <a:r>
              <a:rPr sz="1050" b="0">
                <a:solidFill>
                  <a:srgbClr val="63777F"/>
                </a:solidFill>
                <a:latin typeface="Verdana"/>
              </a:rPr>
              <a:t>06 / 07</a:t>
            </a:r>
          </a:p>
        </p:txBody>
      </p:sp>
      <p:sp>
        <p:nvSpPr>
          <p:cNvPr id="6" name="TextBox 5"/>
          <p:cNvSpPr txBox="1"/>
          <p:nvPr/>
        </p:nvSpPr>
        <p:spPr>
          <a:xfrm>
            <a:off x="722376" y="2148840"/>
            <a:ext cx="4334256" cy="640080"/>
          </a:xfrm>
          <a:prstGeom prst="rect">
            <a:avLst/>
          </a:prstGeom>
          <a:noFill/>
        </p:spPr>
        <p:txBody>
          <a:bodyPr wrap="square" lIns="0" rIns="0" tIns="0" bIns="0" anchor="t">
            <a:spAutoFit/>
          </a:bodyPr>
          <a:lstStyle/>
          <a:p>
            <a:pPr algn="l"/>
            <a:r>
              <a:rPr sz="1875" b="1">
                <a:solidFill>
                  <a:srgbClr val="12242C"/>
                </a:solidFill>
                <a:latin typeface="Verdana"/>
              </a:rPr>
              <a:t>Next strip types</a:t>
            </a:r>
          </a:p>
        </p:txBody>
      </p:sp>
      <p:sp>
        <p:nvSpPr>
          <p:cNvPr id="7" name="TextBox 6"/>
          <p:cNvSpPr txBox="1"/>
          <p:nvPr/>
        </p:nvSpPr>
        <p:spPr>
          <a:xfrm>
            <a:off x="5330952" y="2148840"/>
            <a:ext cx="6135624" cy="640080"/>
          </a:xfrm>
          <a:prstGeom prst="rect">
            <a:avLst/>
          </a:prstGeom>
          <a:noFill/>
        </p:spPr>
        <p:txBody>
          <a:bodyPr wrap="square" lIns="0" rIns="0" tIns="0" bIns="0" anchor="t">
            <a:spAutoFit/>
          </a:bodyPr>
          <a:lstStyle/>
          <a:p>
            <a:pPr algn="l"/>
            <a:r>
              <a:rPr sz="1600" b="0">
                <a:solidFill>
                  <a:srgbClr val="63777F"/>
                </a:solidFill>
                <a:latin typeface="Verdana"/>
              </a:rPr>
              <a:t>Support Keto-Diastix strips (glucose and ketones)</a:t>
            </a:r>
          </a:p>
        </p:txBody>
      </p:sp>
      <p:sp>
        <p:nvSpPr>
          <p:cNvPr id="8" name="Rectangle 7"/>
          <p:cNvSpPr/>
          <p:nvPr/>
        </p:nvSpPr>
        <p:spPr>
          <a:xfrm>
            <a:off x="722376" y="2880360"/>
            <a:ext cx="10744200" cy="9509"/>
          </a:xfrm>
          <a:prstGeom prst="rect">
            <a:avLst/>
          </a:prstGeom>
          <a:solidFill>
            <a:srgbClr val="DDE6E8"/>
          </a:solidFill>
          <a:ln>
            <a:noFill/>
          </a:ln>
          <a:effectLst/>
        </p:spPr>
        <p:txBody>
          <a:bodyPr rtlCol="0" anchor="ctr"/>
          <a:lstStyle/>
          <a:p>
            <a:pPr algn="ctr"/>
          </a:p>
        </p:txBody>
      </p:sp>
      <p:sp>
        <p:nvSpPr>
          <p:cNvPr id="9" name="TextBox 8"/>
          <p:cNvSpPr txBox="1"/>
          <p:nvPr/>
        </p:nvSpPr>
        <p:spPr>
          <a:xfrm>
            <a:off x="722376" y="3017520"/>
            <a:ext cx="4334256" cy="640080"/>
          </a:xfrm>
          <a:prstGeom prst="rect">
            <a:avLst/>
          </a:prstGeom>
          <a:noFill/>
        </p:spPr>
        <p:txBody>
          <a:bodyPr wrap="square" lIns="0" rIns="0" tIns="0" bIns="0" anchor="t">
            <a:spAutoFit/>
          </a:bodyPr>
          <a:lstStyle/>
          <a:p>
            <a:pPr algn="l"/>
            <a:r>
              <a:rPr sz="1875" b="1">
                <a:solidFill>
                  <a:srgbClr val="12242C"/>
                </a:solidFill>
                <a:latin typeface="Verdana"/>
              </a:rPr>
              <a:t>Clinical validation</a:t>
            </a:r>
          </a:p>
        </p:txBody>
      </p:sp>
      <p:sp>
        <p:nvSpPr>
          <p:cNvPr id="10" name="TextBox 9"/>
          <p:cNvSpPr txBox="1"/>
          <p:nvPr/>
        </p:nvSpPr>
        <p:spPr>
          <a:xfrm>
            <a:off x="5330952" y="3017520"/>
            <a:ext cx="6135624" cy="640080"/>
          </a:xfrm>
          <a:prstGeom prst="rect">
            <a:avLst/>
          </a:prstGeom>
          <a:noFill/>
        </p:spPr>
        <p:txBody>
          <a:bodyPr wrap="square" lIns="0" rIns="0" tIns="0" bIns="0" anchor="t">
            <a:spAutoFit/>
          </a:bodyPr>
          <a:lstStyle/>
          <a:p>
            <a:pPr algn="l"/>
            <a:r>
              <a:rPr sz="1600" b="0">
                <a:solidFill>
                  <a:srgbClr val="63777F"/>
                </a:solidFill>
                <a:latin typeface="Verdana"/>
              </a:rPr>
              <a:t>Compare readings with lab urinalysis (about 200 samples); pilot year about ₹22,000 to ₹1,67,000</a:t>
            </a:r>
          </a:p>
        </p:txBody>
      </p:sp>
      <p:sp>
        <p:nvSpPr>
          <p:cNvPr id="11" name="Rectangle 10"/>
          <p:cNvSpPr/>
          <p:nvPr/>
        </p:nvSpPr>
        <p:spPr>
          <a:xfrm>
            <a:off x="722376" y="3749039"/>
            <a:ext cx="10744200" cy="9509"/>
          </a:xfrm>
          <a:prstGeom prst="rect">
            <a:avLst/>
          </a:prstGeom>
          <a:solidFill>
            <a:srgbClr val="DDE6E8"/>
          </a:solidFill>
          <a:ln>
            <a:noFill/>
          </a:ln>
          <a:effectLst/>
        </p:spPr>
        <p:txBody>
          <a:bodyPr rtlCol="0" anchor="ctr"/>
          <a:lstStyle/>
          <a:p>
            <a:pPr algn="ctr"/>
          </a:p>
        </p:txBody>
      </p:sp>
      <p:sp>
        <p:nvSpPr>
          <p:cNvPr id="12" name="TextBox 11"/>
          <p:cNvSpPr txBox="1"/>
          <p:nvPr/>
        </p:nvSpPr>
        <p:spPr>
          <a:xfrm>
            <a:off x="722376" y="3886200"/>
            <a:ext cx="4334256" cy="640080"/>
          </a:xfrm>
          <a:prstGeom prst="rect">
            <a:avLst/>
          </a:prstGeom>
          <a:noFill/>
        </p:spPr>
        <p:txBody>
          <a:bodyPr wrap="square" lIns="0" rIns="0" tIns="0" bIns="0" anchor="t">
            <a:spAutoFit/>
          </a:bodyPr>
          <a:lstStyle/>
          <a:p>
            <a:pPr algn="l"/>
            <a:r>
              <a:rPr sz="1875" b="1">
                <a:solidFill>
                  <a:srgbClr val="12242C"/>
                </a:solidFill>
                <a:latin typeface="Verdana"/>
              </a:rPr>
              <a:t>Ways to expand</a:t>
            </a:r>
          </a:p>
        </p:txBody>
      </p:sp>
      <p:sp>
        <p:nvSpPr>
          <p:cNvPr id="13" name="TextBox 12"/>
          <p:cNvSpPr txBox="1"/>
          <p:nvPr/>
        </p:nvSpPr>
        <p:spPr>
          <a:xfrm>
            <a:off x="5330952" y="3886200"/>
            <a:ext cx="6135624" cy="640080"/>
          </a:xfrm>
          <a:prstGeom prst="rect">
            <a:avLst/>
          </a:prstGeom>
          <a:noFill/>
        </p:spPr>
        <p:txBody>
          <a:bodyPr wrap="square" lIns="0" rIns="0" tIns="0" bIns="0" anchor="t">
            <a:spAutoFit/>
          </a:bodyPr>
          <a:lstStyle/>
          <a:p>
            <a:pPr algn="l"/>
            <a:r>
              <a:rPr sz="1600" b="0">
                <a:solidFill>
                  <a:srgbClr val="63777F"/>
                </a:solidFill>
                <a:latin typeface="Verdana"/>
              </a:rPr>
              <a:t>More training images, strip brands and languages</a:t>
            </a:r>
          </a:p>
        </p:txBody>
      </p:sp>
      <p:sp>
        <p:nvSpPr>
          <p:cNvPr id="14" name="Rectangle 13"/>
          <p:cNvSpPr/>
          <p:nvPr/>
        </p:nvSpPr>
        <p:spPr>
          <a:xfrm>
            <a:off x="722376" y="4617720"/>
            <a:ext cx="10744200" cy="9509"/>
          </a:xfrm>
          <a:prstGeom prst="rect">
            <a:avLst/>
          </a:prstGeom>
          <a:solidFill>
            <a:srgbClr val="DDE6E8"/>
          </a:solidFill>
          <a:ln>
            <a:noFill/>
          </a:ln>
          <a:effectLst/>
        </p:spPr>
        <p:txBody>
          <a:bodyPr rtlCol="0" anchor="ctr"/>
          <a:lstStyle/>
          <a:p>
            <a:pPr algn="ctr"/>
          </a:p>
        </p:txBody>
      </p:sp>
      <p:sp>
        <p:nvSpPr>
          <p:cNvPr id="15" name="TextBox 14"/>
          <p:cNvSpPr txBox="1"/>
          <p:nvPr/>
        </p:nvSpPr>
        <p:spPr>
          <a:xfrm>
            <a:off x="722376" y="4754879"/>
            <a:ext cx="4334256" cy="640080"/>
          </a:xfrm>
          <a:prstGeom prst="rect">
            <a:avLst/>
          </a:prstGeom>
          <a:noFill/>
        </p:spPr>
        <p:txBody>
          <a:bodyPr wrap="square" lIns="0" rIns="0" tIns="0" bIns="0" anchor="t">
            <a:spAutoFit/>
          </a:bodyPr>
          <a:lstStyle/>
          <a:p>
            <a:pPr algn="l"/>
            <a:r>
              <a:rPr sz="1875" b="1">
                <a:solidFill>
                  <a:srgbClr val="12242C"/>
                </a:solidFill>
                <a:latin typeface="Verdana"/>
              </a:rPr>
              <a:t>Future applications</a:t>
            </a:r>
          </a:p>
        </p:txBody>
      </p:sp>
      <p:sp>
        <p:nvSpPr>
          <p:cNvPr id="16" name="TextBox 15"/>
          <p:cNvSpPr txBox="1"/>
          <p:nvPr/>
        </p:nvSpPr>
        <p:spPr>
          <a:xfrm>
            <a:off x="5330952" y="4754879"/>
            <a:ext cx="6135624" cy="640080"/>
          </a:xfrm>
          <a:prstGeom prst="rect">
            <a:avLst/>
          </a:prstGeom>
          <a:noFill/>
        </p:spPr>
        <p:txBody>
          <a:bodyPr wrap="square" lIns="0" rIns="0" tIns="0" bIns="0" anchor="t">
            <a:spAutoFit/>
          </a:bodyPr>
          <a:lstStyle/>
          <a:p>
            <a:pPr algn="l"/>
            <a:r>
              <a:rPr sz="1600" b="0">
                <a:solidFill>
                  <a:srgbClr val="63777F"/>
                </a:solidFill>
                <a:latin typeface="Verdana"/>
              </a:rPr>
              <a:t>Consistent strip readings for community health workers on field visits</a:t>
            </a:r>
          </a:p>
        </p:txBody>
      </p:sp>
      <p:sp>
        <p:nvSpPr>
          <p:cNvPr id="17" name="TextBox 16"/>
          <p:cNvSpPr txBox="1"/>
          <p:nvPr/>
        </p:nvSpPr>
        <p:spPr>
          <a:xfrm>
            <a:off x="722376" y="5669280"/>
            <a:ext cx="10744200" cy="365760"/>
          </a:xfrm>
          <a:prstGeom prst="rect">
            <a:avLst/>
          </a:prstGeom>
          <a:noFill/>
        </p:spPr>
        <p:txBody>
          <a:bodyPr wrap="square" lIns="0" rIns="0" tIns="0" bIns="0" anchor="t">
            <a:spAutoFit/>
          </a:bodyPr>
          <a:lstStyle/>
          <a:p>
            <a:pPr algn="l"/>
            <a:r>
              <a:rPr sz="1400" b="1">
                <a:solidFill>
                  <a:srgbClr val="12242C"/>
                </a:solidFill>
                <a:latin typeface="Verdana"/>
              </a:rPr>
              <a:t>Try it: </a:t>
            </a:r>
            <a:r>
              <a:rPr sz="1400" b="1">
                <a:solidFill>
                  <a:srgbClr val="0E7C8B"/>
                </a:solidFill>
                <a:latin typeface="Verdana"/>
              </a:rPr>
              <a:t>rividyathasathakshi.github.io/demo</a:t>
            </a:r>
          </a:p>
        </p:txBody>
      </p:sp>
    </p:spTree>
  </p:cSld>
  <p:clrMapOvr>
    <a:masterClrMapping/>
  </p:clrMapOvr>
</p:sld>
</file>

<file path=ppt/theme/theme1.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