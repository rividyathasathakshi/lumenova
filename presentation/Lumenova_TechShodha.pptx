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HLEmAuNmAfCdM7AZ9L5tK7t1S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1" Type="http://schemas.openxmlformats.org/officeDocument/2006/relationships/slide" Target="slides/slide7.xml"/><Relationship Id="rId12" Type="http://customschemas.google.com/relationships/presentationmetadata" Target="metadata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Introduce yourself. Lumenova is a free web app: you point your phone at a urine or ovulation test strip and it gives an objective, private reading with plain-language guidance. It is a screening and wellness aid, not a diagnostic device.</a:t>
            </a:r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Invite questions. If there is time, open the link on a phone and scan a strip live. Next steps: add a layout for Keto-Diastix strips, run a comparison against lab urinalysis, and broaden the training data and languages.</a:t>
            </a:r>
          </a:p>
        </p:txBody>
      </p:sp>
      <p:sp>
        <p:nvSpPr>
          <p:cNvPr id="118" name="Google Shape;11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Home urine and ovulation strips are cheap and sold everywhere, but people read them by eye. A 10-pad urine strip has dozens of similar shades, and the reading changes with lighting, colour vision and timing. On ovulation strips, the whole result is a judgement of whether the test line is as dark as the control line. Strips are thrown away, so trends are lost, and a worrying result rarely comes with a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Lumenova turns the phone camera into an objective strip reader. The camera screen guides the user and captures automatically; here a 10-pad strip is detected at 34 degrees. The result screen shows the status with icon and text, counts per status, and the disclaimer on every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Step 3 is the only cloud step: the photo is sent to a YOLO26s model on Roboflow, which returns boxes around the pads. If it is off or offline, an on-device detector based on PCA does the same job. Colour reading, results and history never leave the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main users are women who already use home strips: those trying to conceive, those tracking their cycle, people with diabetes or kidney concerns, and pregnant women doing self-checks their doctor recommends. Because it is free and browser-based, it also suits rural and low-resource settings. Community health workers are a future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result shows what it means, what to do now, when to seek professional help and precautions, with the disclaimer. Status is shown with an icon and a word, never colour alone. There are also step-by-step test instructions, manual entry and a "use a photo instead"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calendar predicts all four phases from the period dates the user logs. Ovulation is placed 14 days before the next expected period; when an ovulation strip reads Peak, the estimate moves to the day after. The LH trend shows the T/C ratio crossing the 1.0 peak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Users need only a smartphone with a camera and a browser, plus standard strips from a pharmacy. There is no server or database: the site is static, the analysis runs in a Web Worker on the phone, and only the AI pad detection runs in the cloud on Roboflow.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mAP at 50 means a detection counts when its box overlaps the true box by at least half. The urine model's headline figure in Roboflow is 86.7% because it averages in an empty "background" class that scores zero; over the 11 real classes it is 94.5%. Be clear that these numbers say the model finds the pads, not that the medical reading is correct. The next step is a comparison against lab urinalysis.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Clinical strip readers are separate machines. Lumenova runs in a phone browser, finds the strip at any angle, corrects the lighting using the strip's own white backing, and combines a trained detector with transparent colour science, so every reading can be explained. It also shows "unreadable" rather than guessing, and links a flagged result to nearby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biggest risk is a wrong reading being trusted. Lumenova refuses bad photos, shows a confidence for each pad, and says "unreadable" rather than guessing. The colour reading has not yet been compared with lab tests, so it is presented only as a screening aid. Any diagnostic claim would need approval from CDSCO, India's medical device regulator.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Socially, objective home screening can prompt a doctor visit sooner and improves understanding of women's health. Economically, the app is free and each test costs only a cheap strip. Environmentally, it reuses phones people already own instead of a dedicated reader device, and most processing happens on the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software tool and service has a free tier, so the only real spend was test strips: 315 rupees for 50 Keto-Diastix strips, 590 for 50 ovulation strips and 50 for a 5-test ovulation kit. For users the app is free, so each test costs only the strip. The pilot estimate is driven by a lab study comparing Lumenova's readings with laboratory urinalysis.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 If there is time, open the link on a phone and scan a strip live. Next steps: add a layout for Keto-Diastix strips, run a comparison against lab urinalysis, and broaden the training data and languages.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0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23900" y="619125"/>
            <a:ext cx="723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43D5E8"/>
                </a:solidFill>
                <a:latin typeface="Verdana"/>
                <a:ea typeface="Verdana"/>
                <a:cs typeface="Verdana"/>
                <a:sym typeface="Verdana"/>
              </a:rPr>
              <a:t>24-HOUR TECHNICAL HACKATHON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44725" y="1200288"/>
            <a:ext cx="72390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Lumenova: Reading Home Urine and Ovulation Test Strips with a Phone Camera</a:t>
            </a:r>
            <a:endParaRPr sz="3600"/>
          </a:p>
        </p:txBody>
      </p:sp>
      <p:sp>
        <p:nvSpPr>
          <p:cNvPr id="18" name="Google Shape;18;p1"/>
          <p:cNvSpPr/>
          <p:nvPr/>
        </p:nvSpPr>
        <p:spPr>
          <a:xfrm>
            <a:off x="723900" y="33385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3D5E8"/>
                </a:solidFill>
                <a:latin typeface="Verdana"/>
                <a:ea typeface="Verdana"/>
                <a:cs typeface="Verdana"/>
                <a:sym typeface="Verdana"/>
              </a:rPr>
              <a:t>[Team name]</a:t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23900" y="3814913"/>
            <a:ext cx="6667500" cy="13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D5E0E2"/>
                </a:solidFill>
                <a:latin typeface="Verdana"/>
                <a:ea typeface="Verdana"/>
                <a:cs typeface="Verdana"/>
                <a:sym typeface="Verdana"/>
              </a:rPr>
              <a:t>[Member 1]</a:t>
            </a:r>
            <a:endParaRPr b="1" sz="1875">
              <a:solidFill>
                <a:srgbClr val="D5E0E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D5E0E2"/>
                </a:solidFill>
                <a:latin typeface="Verdana"/>
                <a:ea typeface="Verdana"/>
                <a:cs typeface="Verdana"/>
                <a:sym typeface="Verdana"/>
              </a:rPr>
              <a:t>[Member 2]</a:t>
            </a:r>
            <a:endParaRPr b="1" sz="1875">
              <a:solidFill>
                <a:srgbClr val="D5E0E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D5E0E2"/>
                </a:solidFill>
                <a:latin typeface="Verdana"/>
                <a:ea typeface="Verdana"/>
                <a:cs typeface="Verdana"/>
                <a:sym typeface="Verdana"/>
              </a:rPr>
              <a:t>[Member 3]</a:t>
            </a:r>
            <a:endParaRPr b="1" sz="1875">
              <a:solidFill>
                <a:srgbClr val="D5E0E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D5E0E2"/>
                </a:solidFill>
                <a:latin typeface="Verdana"/>
                <a:ea typeface="Verdana"/>
                <a:cs typeface="Verdana"/>
                <a:sym typeface="Verdana"/>
              </a:rPr>
              <a:t>[Member 4]</a:t>
            </a:r>
            <a:endParaRPr b="1" sz="1875">
              <a:solidFill>
                <a:srgbClr val="D5E0E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23900" y="5337300"/>
            <a:ext cx="8420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D5E0E2"/>
                </a:solidFill>
                <a:latin typeface="Verdana"/>
                <a:ea typeface="Verdana"/>
                <a:cs typeface="Verdana"/>
                <a:sym typeface="Verdana"/>
              </a:rPr>
              <a:t>[Institution]</a:t>
            </a:r>
            <a:endParaRPr/>
          </a:p>
        </p:txBody>
      </p:sp>
      <p:pic>
        <p:nvPicPr>
          <p:cNvPr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2904" y="1089075"/>
            <a:ext cx="3476116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723900" y="5676900"/>
            <a:ext cx="10744200" cy="9525"/>
          </a:xfrm>
          <a:prstGeom prst="rect">
            <a:avLst/>
          </a:prstGeom>
          <a:solidFill>
            <a:srgbClr val="244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723900" y="5934075"/>
            <a:ext cx="107442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AFC0C4"/>
                </a:solidFill>
                <a:latin typeface="Verdana"/>
                <a:ea typeface="Verdana"/>
                <a:cs typeface="Verdana"/>
                <a:sym typeface="Verdana"/>
              </a:rPr>
              <a:t>Organized by the ECE Department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AFC0C4"/>
                </a:solidFill>
                <a:latin typeface="Verdana"/>
                <a:ea typeface="Verdana"/>
                <a:cs typeface="Verdana"/>
                <a:sym typeface="Verdana"/>
              </a:rPr>
              <a:t>Vidyavardhaka College of Engineering, Mysuru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07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723900" y="2562225"/>
            <a:ext cx="10744200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00">
                <a:solidFill>
                  <a:srgbClr val="43D5E8"/>
                </a:solidFill>
                <a:latin typeface="Verdana"/>
                <a:ea typeface="Verdana"/>
                <a:cs typeface="Verdana"/>
                <a:sym typeface="Verdana"/>
              </a:rPr>
              <a:t>THANK YOU</a:t>
            </a:r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22376" y="4023360"/>
            <a:ext cx="10744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D5E0E2"/>
                </a:solidFill>
                <a:latin typeface="Verdana"/>
              </a:rPr>
              <a:t>Questions?  ·  rividyathasathakshi.github.io/demo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22376" y="5806440"/>
            <a:ext cx="10744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AFC0C4"/>
                </a:solidFill>
                <a:latin typeface="Verdana"/>
              </a:rPr>
              <a:t>Lumenova is a screening and wellness aid, not a diagnostic device. Results may be affected by strip type, timing, lighting, camera quality, and other factors.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2376" y="758952"/>
            <a:ext cx="1074420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2242C"/>
                </a:solidFill>
                <a:latin typeface="Verdana"/>
              </a:rPr>
              <a:t>Problem Statement</a:t>
            </a:r>
          </a:p>
        </p:txBody>
      </p:sp>
      <p:sp>
        <p:nvSpPr>
          <p:cNvPr id="3" name="Divider"/>
          <p:cNvSpPr/>
          <p:nvPr/>
        </p:nvSpPr>
        <p:spPr>
          <a:xfrm>
            <a:off x="722376" y="1762048"/>
            <a:ext cx="10744200" cy="9509"/>
          </a:xfrm>
          <a:prstGeom prst="rect">
            <a:avLst/>
          </a:prstGeom>
          <a:solidFill>
            <a:srgbClr val="DD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Footer"/>
          <p:cNvSpPr txBox="1"/>
          <p:nvPr/>
        </p:nvSpPr>
        <p:spPr>
          <a:xfrm>
            <a:off x="722376" y="6286500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3777F"/>
                </a:solidFill>
                <a:latin typeface="Verdana"/>
              </a:rPr>
              <a:t>ECE  /  VVCE, MYSURU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378440" y="6286500"/>
            <a:ext cx="10881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63777F"/>
                </a:solidFill>
                <a:latin typeface="Verdana"/>
              </a:rPr>
              <a:t>02 / 15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722376" y="1938528"/>
            <a:ext cx="10744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12242C"/>
                </a:solidFill>
                <a:latin typeface="Verdana"/>
              </a:rPr>
              <a:t>Home test strips are still read by eye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2606040"/>
            <a:ext cx="5234940" cy="160020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8803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43D5E8"/>
                </a:solidFill>
                <a:latin typeface="Verdan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2898648"/>
            <a:ext cx="38176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2242C"/>
                </a:solidFill>
                <a:latin typeface="Verdana"/>
              </a:rPr>
              <a:t>Colour charts are hard to match</a:t>
            </a:r>
          </a:p>
          <a:p>
            <a:pPr algn="l"/>
            <a:r>
              <a:rPr sz="1400" b="0">
                <a:solidFill>
                  <a:srgbClr val="63777F"/>
                </a:solidFill>
                <a:latin typeface="Verdana"/>
              </a:rPr>
              <a:t>Lighting, colour vision and timing change what the eye sees.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2606040"/>
            <a:ext cx="5234940" cy="160020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5955" y="28803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43D5E8"/>
                </a:solidFill>
                <a:latin typeface="Verdan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4636" y="2898648"/>
            <a:ext cx="38176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2242C"/>
                </a:solidFill>
                <a:latin typeface="Verdana"/>
              </a:rPr>
              <a:t>Ovulation lines are hard to judge</a:t>
            </a:r>
          </a:p>
          <a:p>
            <a:pPr algn="l"/>
            <a:r>
              <a:rPr sz="1400" b="0">
                <a:solidFill>
                  <a:srgbClr val="63777F"/>
                </a:solidFill>
                <a:latin typeface="Verdana"/>
              </a:rPr>
              <a:t>Is the T line as dark as the C line? That guess is the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" y="4480560"/>
            <a:ext cx="5234940" cy="160020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75488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43D5E8"/>
                </a:solidFill>
                <a:latin typeface="Verdan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5376" y="4773168"/>
            <a:ext cx="38176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2242C"/>
                </a:solidFill>
                <a:latin typeface="Verdana"/>
              </a:rPr>
              <a:t>Results are thrown away</a:t>
            </a:r>
          </a:p>
          <a:p>
            <a:pPr algn="l"/>
            <a:r>
              <a:rPr sz="1400" b="0">
                <a:solidFill>
                  <a:srgbClr val="63777F"/>
                </a:solidFill>
                <a:latin typeface="Verdana"/>
              </a:rPr>
              <a:t>No trend over days, and no link to the menstrual cycle.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1636" y="4480560"/>
            <a:ext cx="5234940" cy="160020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5955" y="475488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43D5E8"/>
                </a:solidFill>
                <a:latin typeface="Verdan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4636" y="4773168"/>
            <a:ext cx="38176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2242C"/>
                </a:solidFill>
                <a:latin typeface="Verdana"/>
              </a:rPr>
              <a:t>No next step, no privacy</a:t>
            </a:r>
          </a:p>
          <a:p>
            <a:pPr algn="l"/>
            <a:r>
              <a:rPr sz="1400" b="0">
                <a:solidFill>
                  <a:srgbClr val="63777F"/>
                </a:solidFill>
                <a:latin typeface="Verdana"/>
              </a:rPr>
              <a:t>Little guidance after a worrying result; most apps need an account.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2376" y="758952"/>
            <a:ext cx="1074420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2242C"/>
                </a:solidFill>
                <a:latin typeface="Verdana"/>
              </a:rPr>
              <a:t>Proposed Solution</a:t>
            </a:r>
          </a:p>
        </p:txBody>
      </p:sp>
      <p:sp>
        <p:nvSpPr>
          <p:cNvPr id="3" name="Divider"/>
          <p:cNvSpPr/>
          <p:nvPr/>
        </p:nvSpPr>
        <p:spPr>
          <a:xfrm>
            <a:off x="722376" y="1762048"/>
            <a:ext cx="10744200" cy="9509"/>
          </a:xfrm>
          <a:prstGeom prst="rect">
            <a:avLst/>
          </a:prstGeom>
          <a:solidFill>
            <a:srgbClr val="DD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Footer"/>
          <p:cNvSpPr txBox="1"/>
          <p:nvPr/>
        </p:nvSpPr>
        <p:spPr>
          <a:xfrm>
            <a:off x="722376" y="6286500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3777F"/>
                </a:solidFill>
                <a:latin typeface="Verdana"/>
              </a:rPr>
              <a:t>ECE  /  VVCE, MYSURU   ·   Screens from the working prototype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378440" y="6286500"/>
            <a:ext cx="10881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63777F"/>
                </a:solidFill>
                <a:latin typeface="Verdana"/>
              </a:rPr>
              <a:t>03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11680"/>
            <a:ext cx="6400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12242C"/>
                </a:solidFill>
                <a:latin typeface="Verdana"/>
              </a:rPr>
              <a:t>What is your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450592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3777F"/>
                </a:solidFill>
                <a:latin typeface="Verdana"/>
              </a:rPr>
              <a:t>Point a phone at the strip and get an objective reading of home urine and ovulation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291840"/>
            <a:ext cx="6400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12242C"/>
                </a:solidFill>
                <a:latin typeface="Verdana"/>
              </a:rPr>
              <a:t>How does it help?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730752"/>
            <a:ext cx="6400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7C8B"/>
                </a:solidFill>
                <a:latin typeface="Verdana"/>
              </a:rPr>
              <a:t>1.  </a:t>
            </a:r>
            <a:r>
              <a:rPr sz="1600" b="0">
                <a:solidFill>
                  <a:srgbClr val="63777F"/>
                </a:solidFill>
                <a:latin typeface="Verdana"/>
              </a:rPr>
              <a:t>Live guidance frames the strip and captures it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7C8B"/>
                </a:solidFill>
                <a:latin typeface="Verdana"/>
              </a:rPr>
              <a:t>2.  </a:t>
            </a:r>
            <a:r>
              <a:rPr sz="1600" b="0">
                <a:solidFill>
                  <a:srgbClr val="63777F"/>
                </a:solidFill>
                <a:latin typeface="Verdana"/>
              </a:rPr>
              <a:t>AI finds the pads; colour science reads them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7C8B"/>
                </a:solidFill>
                <a:latin typeface="Verdana"/>
              </a:rPr>
              <a:t>3.  </a:t>
            </a:r>
            <a:r>
              <a:rPr sz="1600" b="0">
                <a:solidFill>
                  <a:srgbClr val="63777F"/>
                </a:solidFill>
                <a:latin typeface="Verdana"/>
              </a:rPr>
              <a:t>Plain-language result, never a diagnosis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7C8B"/>
                </a:solidFill>
                <a:latin typeface="Verdana"/>
              </a:rPr>
              <a:t>4.  </a:t>
            </a:r>
            <a:r>
              <a:rPr sz="1600" b="0">
                <a:solidFill>
                  <a:srgbClr val="63777F"/>
                </a:solidFill>
                <a:latin typeface="Verdana"/>
              </a:rPr>
              <a:t>Saved privately, with trends and a cycle calendar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5303520"/>
            <a:ext cx="6400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12242C"/>
                </a:solidFill>
                <a:latin typeface="Verdana"/>
              </a:rPr>
              <a:t>What is the core idea?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5669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3777F"/>
                </a:solidFill>
                <a:latin typeface="Verdana"/>
              </a:rPr>
              <a:t>Works in any phone browser. No app install, no account.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011680"/>
            <a:ext cx="3968496" cy="402336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Camera screen: a rotated 10-pad urine strip detected, with the message Ready to capture" descr="image-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2212848"/>
            <a:ext cx="1668996" cy="3611880"/>
          </a:xfrm>
          <a:prstGeom prst="rect">
            <a:avLst/>
          </a:prstGeom>
        </p:spPr>
      </p:pic>
      <p:pic>
        <p:nvPicPr>
          <p:cNvPr id="14" name="Result screen: Borderline status, 7 normal and 3 borderline parameters" descr="image-3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9996" y="2212848"/>
            <a:ext cx="1668996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2376" y="758952"/>
            <a:ext cx="1074420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2242C"/>
                </a:solidFill>
                <a:latin typeface="Verdana"/>
              </a:rPr>
              <a:t>How It Works</a:t>
            </a:r>
          </a:p>
        </p:txBody>
      </p:sp>
      <p:sp>
        <p:nvSpPr>
          <p:cNvPr id="3" name="Divider"/>
          <p:cNvSpPr/>
          <p:nvPr/>
        </p:nvSpPr>
        <p:spPr>
          <a:xfrm>
            <a:off x="722376" y="1762048"/>
            <a:ext cx="10744200" cy="9509"/>
          </a:xfrm>
          <a:prstGeom prst="rect">
            <a:avLst/>
          </a:prstGeom>
          <a:solidFill>
            <a:srgbClr val="DD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Footer"/>
          <p:cNvSpPr txBox="1"/>
          <p:nvPr/>
        </p:nvSpPr>
        <p:spPr>
          <a:xfrm>
            <a:off x="722376" y="6286500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3777F"/>
                </a:solidFill>
                <a:latin typeface="Verdana"/>
              </a:rPr>
              <a:t>ECE  /  VVCE, MYSURU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378440" y="6286500"/>
            <a:ext cx="10881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63777F"/>
                </a:solidFill>
                <a:latin typeface="Verdana"/>
              </a:rPr>
              <a:t>04 / 15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722376" y="1938528"/>
            <a:ext cx="10744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12242C"/>
                </a:solidFill>
                <a:latin typeface="Verdana"/>
              </a:rPr>
              <a:t>One scan, six steps, mostly on the phone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2606040"/>
            <a:ext cx="1638300" cy="210312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743200"/>
            <a:ext cx="1363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43D5E8"/>
                </a:solidFill>
                <a:latin typeface="Verdan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337560"/>
            <a:ext cx="13639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2242C"/>
                </a:solidFill>
                <a:latin typeface="Verdana"/>
              </a:rPr>
              <a:t>Camera</a:t>
            </a:r>
          </a:p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Live guidance and auto-capture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3556" y="2606040"/>
            <a:ext cx="1638300" cy="210312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8148" y="2743200"/>
            <a:ext cx="1363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43D5E8"/>
                </a:solidFill>
                <a:latin typeface="Verdan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8148" y="3337560"/>
            <a:ext cx="13639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2242C"/>
                </a:solidFill>
                <a:latin typeface="Verdana"/>
              </a:rPr>
              <a:t>Quality check</a:t>
            </a:r>
          </a:p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Rejects blur, glare, darkness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4736" y="2606040"/>
            <a:ext cx="1638300" cy="2103120"/>
          </a:xfrm>
          <a:prstGeom prst="roundRect">
            <a:avLst>
              <a:gd name="adj" fmla="val 6000"/>
            </a:avLst>
          </a:prstGeom>
          <a:solidFill>
            <a:srgbClr val="03070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9328" y="2743200"/>
            <a:ext cx="1363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43D5E8"/>
                </a:solidFill>
                <a:latin typeface="Verdan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9328" y="3337560"/>
            <a:ext cx="13639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Verdana"/>
              </a:rPr>
              <a:t>Find the pads</a:t>
            </a:r>
          </a:p>
          <a:p>
            <a:pPr algn="l"/>
            <a:r>
              <a:rPr sz="1200" b="0">
                <a:solidFill>
                  <a:srgbClr val="D5E0E2"/>
                </a:solidFill>
                <a:latin typeface="Verdana"/>
              </a:rPr>
              <a:t>YOLO26s AI model (cloud), or on-device detector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2606040"/>
            <a:ext cx="1638300" cy="210312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507" y="2743200"/>
            <a:ext cx="1363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43D5E8"/>
                </a:solidFill>
                <a:latin typeface="Verdan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507" y="3337560"/>
            <a:ext cx="13639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2242C"/>
                </a:solidFill>
                <a:latin typeface="Verdana"/>
              </a:rPr>
              <a:t>Read</a:t>
            </a:r>
          </a:p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CIEDE2000 colour match; T/C line ratio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7096" y="2606040"/>
            <a:ext cx="1638300" cy="210312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1688" y="2743200"/>
            <a:ext cx="1363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43D5E8"/>
                </a:solidFill>
                <a:latin typeface="Verdana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1688" y="3337560"/>
            <a:ext cx="13639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2242C"/>
                </a:solidFill>
                <a:latin typeface="Verdana"/>
              </a:rPr>
              <a:t>Result</a:t>
            </a:r>
          </a:p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Plain-language screening guidance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8276" y="2606040"/>
            <a:ext cx="1638300" cy="210312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92868" y="2743200"/>
            <a:ext cx="1363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43D5E8"/>
                </a:solidFill>
                <a:latin typeface="Verdana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92868" y="3337560"/>
            <a:ext cx="13639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2242C"/>
                </a:solidFill>
                <a:latin typeface="Verdana"/>
              </a:rPr>
              <a:t>Save</a:t>
            </a:r>
          </a:p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Trends and calendar, on the phone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" y="4983480"/>
            <a:ext cx="10744200" cy="86868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544" y="5138928"/>
            <a:ext cx="566928" cy="566928"/>
          </a:xfrm>
          <a:prstGeom prst="ellipse">
            <a:avLst/>
          </a:prstGeom>
          <a:solidFill>
            <a:srgbClr val="1224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Icon image-4-1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06" y="5274990"/>
            <a:ext cx="294802" cy="29480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82496" y="4983480"/>
            <a:ext cx="9555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2242C"/>
                </a:solidFill>
                <a:latin typeface="Verdana"/>
              </a:rPr>
              <a:t>Only the photo goes to the AI model. Colour reading and storage stay on the phone, and the model can be switched off.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2376" y="758952"/>
            <a:ext cx="1074420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2242C"/>
                </a:solidFill>
                <a:latin typeface="Verdana"/>
              </a:rPr>
              <a:t>Target Users</a:t>
            </a:r>
          </a:p>
        </p:txBody>
      </p:sp>
      <p:sp>
        <p:nvSpPr>
          <p:cNvPr id="3" name="Divider"/>
          <p:cNvSpPr/>
          <p:nvPr/>
        </p:nvSpPr>
        <p:spPr>
          <a:xfrm>
            <a:off x="722376" y="1762048"/>
            <a:ext cx="10744200" cy="9509"/>
          </a:xfrm>
          <a:prstGeom prst="rect">
            <a:avLst/>
          </a:prstGeom>
          <a:solidFill>
            <a:srgbClr val="DD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Footer"/>
          <p:cNvSpPr txBox="1"/>
          <p:nvPr/>
        </p:nvSpPr>
        <p:spPr>
          <a:xfrm>
            <a:off x="722376" y="6286500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3777F"/>
                </a:solidFill>
                <a:latin typeface="Verdana"/>
              </a:rPr>
              <a:t>ECE  /  VVCE, MYSURU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378440" y="6286500"/>
            <a:ext cx="10881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63777F"/>
                </a:solidFill>
                <a:latin typeface="Verdana"/>
              </a:rPr>
              <a:t>05 / 15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722376" y="1938528"/>
            <a:ext cx="10744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12242C"/>
                </a:solidFill>
                <a:latin typeface="Verdana"/>
              </a:rPr>
              <a:t>Built for women who test at home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2606040"/>
            <a:ext cx="3398520" cy="160020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2834640"/>
            <a:ext cx="530352" cy="530352"/>
          </a:xfrm>
          <a:prstGeom prst="ellipse">
            <a:avLst/>
          </a:prstGeom>
          <a:solidFill>
            <a:srgbClr val="1224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Icon image-5-1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828" y="2961924"/>
            <a:ext cx="275783" cy="2757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18488" y="2834640"/>
            <a:ext cx="231952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2242C"/>
                </a:solidFill>
                <a:latin typeface="Verdana"/>
              </a:rPr>
              <a:t>Trying to conceive</a:t>
            </a:r>
          </a:p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Reliable ovulation readings and a predicted fertile window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5216" y="2606040"/>
            <a:ext cx="3398520" cy="160020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96384" y="2834640"/>
            <a:ext cx="530352" cy="530352"/>
          </a:xfrm>
          <a:prstGeom prst="ellipse">
            <a:avLst/>
          </a:prstGeom>
          <a:solidFill>
            <a:srgbClr val="1224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Icon image-5-2.png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3668" y="2961924"/>
            <a:ext cx="275783" cy="27578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91328" y="2834640"/>
            <a:ext cx="231952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2242C"/>
                </a:solidFill>
                <a:latin typeface="Verdana"/>
              </a:rPr>
              <a:t>Tracking cycle and wellness</a:t>
            </a:r>
          </a:p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Four-phase calendar and urine trends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8056" y="2606040"/>
            <a:ext cx="3398520" cy="160020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69224" y="2834640"/>
            <a:ext cx="530352" cy="530352"/>
          </a:xfrm>
          <a:prstGeom prst="ellipse">
            <a:avLst/>
          </a:prstGeom>
          <a:solidFill>
            <a:srgbClr val="1224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Icon image-5-3.png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6508" y="2961924"/>
            <a:ext cx="275783" cy="27578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64168" y="2834640"/>
            <a:ext cx="231952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2242C"/>
                </a:solidFill>
                <a:latin typeface="Verdana"/>
              </a:rPr>
              <a:t>Diabetes or kidney concerns</a:t>
            </a:r>
          </a:p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Regular home screening, with a history to show a doctor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4480560"/>
            <a:ext cx="3398520" cy="160020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" y="4709160"/>
            <a:ext cx="530352" cy="530352"/>
          </a:xfrm>
          <a:prstGeom prst="ellipse">
            <a:avLst/>
          </a:prstGeom>
          <a:solidFill>
            <a:srgbClr val="1224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Icon image-5-4.png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828" y="4836444"/>
            <a:ext cx="275783" cy="27578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18488" y="4709160"/>
            <a:ext cx="231952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2242C"/>
                </a:solidFill>
                <a:latin typeface="Verdana"/>
              </a:rPr>
              <a:t>Antenatal self-checks</a:t>
            </a:r>
          </a:p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Urine protein and glucose between visits, as a doctor advises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95216" y="4480560"/>
            <a:ext cx="3398520" cy="160020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96384" y="4709160"/>
            <a:ext cx="530352" cy="530352"/>
          </a:xfrm>
          <a:prstGeom prst="ellipse">
            <a:avLst/>
          </a:prstGeom>
          <a:solidFill>
            <a:srgbClr val="1224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Icon image-5-5.png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3668" y="4836444"/>
            <a:ext cx="275783" cy="27578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291328" y="4709160"/>
            <a:ext cx="231952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2242C"/>
                </a:solidFill>
                <a:latin typeface="Verdana"/>
              </a:rPr>
              <a:t>Rural, low-resource areas</a:t>
            </a:r>
          </a:p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Free, and runs in a basic smartphone browser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8056" y="4480560"/>
            <a:ext cx="3398520" cy="160020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69224" y="4709160"/>
            <a:ext cx="530352" cy="530352"/>
          </a:xfrm>
          <a:prstGeom prst="ellipse">
            <a:avLst/>
          </a:prstGeom>
          <a:solidFill>
            <a:srgbClr val="1224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Icon image-5-6.png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6508" y="4836444"/>
            <a:ext cx="275783" cy="27578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64168" y="4709160"/>
            <a:ext cx="231952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2242C"/>
                </a:solidFill>
                <a:latin typeface="Verdana"/>
              </a:rPr>
              <a:t>Community health workers</a:t>
            </a:r>
          </a:p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Consistent strip readings on field visits (future)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2376" y="758952"/>
            <a:ext cx="1074420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2242C"/>
                </a:solidFill>
                <a:latin typeface="Verdana"/>
              </a:rPr>
              <a:t>Key Features</a:t>
            </a:r>
          </a:p>
        </p:txBody>
      </p:sp>
      <p:sp>
        <p:nvSpPr>
          <p:cNvPr id="3" name="Divider"/>
          <p:cNvSpPr/>
          <p:nvPr/>
        </p:nvSpPr>
        <p:spPr>
          <a:xfrm>
            <a:off x="722376" y="1762048"/>
            <a:ext cx="10744200" cy="9509"/>
          </a:xfrm>
          <a:prstGeom prst="rect">
            <a:avLst/>
          </a:prstGeom>
          <a:solidFill>
            <a:srgbClr val="DD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Footer"/>
          <p:cNvSpPr txBox="1"/>
          <p:nvPr/>
        </p:nvSpPr>
        <p:spPr>
          <a:xfrm>
            <a:off x="722376" y="6286500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3777F"/>
                </a:solidFill>
                <a:latin typeface="Verdana"/>
              </a:rPr>
              <a:t>ECE  /  VVCE, MYSURU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378440" y="6286500"/>
            <a:ext cx="10881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63777F"/>
                </a:solidFill>
                <a:latin typeface="Verdana"/>
              </a:rPr>
              <a:t>06 / 15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722376" y="1938528"/>
            <a:ext cx="10744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12242C"/>
                </a:solidFill>
                <a:latin typeface="Verdana"/>
              </a:rPr>
              <a:t>Nine things Lumenova does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2606040"/>
            <a:ext cx="3459480" cy="96012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788920"/>
            <a:ext cx="309372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2242C"/>
                </a:solidFill>
                <a:latin typeface="Verdana"/>
              </a:rPr>
              <a:t>Urine strip reader</a:t>
            </a:r>
          </a:p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2 to 10 pads, at any angle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4736" y="2606040"/>
            <a:ext cx="3459480" cy="96012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7616" y="2788920"/>
            <a:ext cx="309372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2242C"/>
                </a:solidFill>
                <a:latin typeface="Verdana"/>
              </a:rPr>
              <a:t>Ovulation (LH) reader</a:t>
            </a:r>
          </a:p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T/C ratio: Low, Rising or Peak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7096" y="2606040"/>
            <a:ext cx="3459480" cy="96012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9976" y="2788920"/>
            <a:ext cx="309372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2242C"/>
                </a:solidFill>
                <a:latin typeface="Verdana"/>
              </a:rPr>
              <a:t>Live camera guidance</a:t>
            </a:r>
          </a:p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Auto-captures when the strip is 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" y="3749039"/>
            <a:ext cx="3459480" cy="96012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3931920"/>
            <a:ext cx="3093720" cy="667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2242C"/>
                </a:solidFill>
                <a:latin typeface="Verdana"/>
              </a:rPr>
              <a:t>Quality gate</a:t>
            </a:r>
          </a:p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Says why a photo cannot be read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4736" y="3749039"/>
            <a:ext cx="3459480" cy="96012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7616" y="3931920"/>
            <a:ext cx="3093720" cy="667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2242C"/>
                </a:solidFill>
                <a:latin typeface="Verdana"/>
              </a:rPr>
              <a:t>Test-kit check</a:t>
            </a:r>
          </a:p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Refuses pregnancy and COVID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7096" y="3749039"/>
            <a:ext cx="3459480" cy="96012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9976" y="3931920"/>
            <a:ext cx="3093720" cy="667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2242C"/>
                </a:solidFill>
                <a:latin typeface="Verdana"/>
              </a:rPr>
              <a:t>Trends and history</a:t>
            </a:r>
          </a:p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Urine and LH graphs over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4892040"/>
            <a:ext cx="3459480" cy="96012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5074920"/>
            <a:ext cx="3093720" cy="667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2242C"/>
                </a:solidFill>
                <a:latin typeface="Verdana"/>
              </a:rPr>
              <a:t>Cycle calendar</a:t>
            </a:r>
          </a:p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Four phases and the next period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4736" y="4892040"/>
            <a:ext cx="3459480" cy="96012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7616" y="5074920"/>
            <a:ext cx="3093720" cy="667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2242C"/>
                </a:solidFill>
                <a:latin typeface="Verdana"/>
              </a:rPr>
              <a:t>Nearby help</a:t>
            </a:r>
          </a:p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Clinics and pharmacies on a map, with directions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7096" y="4892040"/>
            <a:ext cx="3459480" cy="960120"/>
          </a:xfrm>
          <a:prstGeom prst="roundRect">
            <a:avLst>
              <a:gd name="adj" fmla="val 6000"/>
            </a:avLst>
          </a:prstGeom>
          <a:solidFill>
            <a:srgbClr val="03070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9976" y="5074920"/>
            <a:ext cx="3093720" cy="667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3D5E8"/>
                </a:solidFill>
                <a:latin typeface="Verdana"/>
              </a:rPr>
              <a:t>Privacy by design</a:t>
            </a:r>
          </a:p>
          <a:p>
            <a:pPr algn="l"/>
            <a:r>
              <a:rPr sz="1200" b="0">
                <a:solidFill>
                  <a:srgbClr val="D5E0E2"/>
                </a:solidFill>
                <a:latin typeface="Verdana"/>
              </a:rPr>
              <a:t>No account; data stays on the phone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2376" y="758952"/>
            <a:ext cx="1074420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2242C"/>
                </a:solidFill>
                <a:latin typeface="Verdana"/>
              </a:rPr>
              <a:t>Tracking Over Time</a:t>
            </a:r>
          </a:p>
        </p:txBody>
      </p:sp>
      <p:sp>
        <p:nvSpPr>
          <p:cNvPr id="3" name="Divider"/>
          <p:cNvSpPr/>
          <p:nvPr/>
        </p:nvSpPr>
        <p:spPr>
          <a:xfrm>
            <a:off x="722376" y="1762048"/>
            <a:ext cx="10744200" cy="9509"/>
          </a:xfrm>
          <a:prstGeom prst="rect">
            <a:avLst/>
          </a:prstGeom>
          <a:solidFill>
            <a:srgbClr val="DD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Footer"/>
          <p:cNvSpPr txBox="1"/>
          <p:nvPr/>
        </p:nvSpPr>
        <p:spPr>
          <a:xfrm>
            <a:off x="722376" y="6286500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3777F"/>
                </a:solidFill>
                <a:latin typeface="Verdana"/>
              </a:rPr>
              <a:t>ECE  /  VVCE, MYSURU   ·   Screens from the working prototype, with sample data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378440" y="6286500"/>
            <a:ext cx="10881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63777F"/>
                </a:solidFill>
                <a:latin typeface="Verdana"/>
              </a:rPr>
              <a:t>07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1168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12242C"/>
                </a:solidFill>
                <a:latin typeface="Verdana"/>
              </a:rPr>
              <a:t>Every test adds to a picture of the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301752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43D5E8"/>
                </a:solidFill>
                <a:latin typeface="Verdan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36776" y="3063239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2242C"/>
                </a:solidFill>
                <a:latin typeface="Verdana"/>
              </a:rPr>
              <a:t>Four phases</a:t>
            </a:r>
          </a:p>
          <a:p>
            <a:pPr algn="l"/>
            <a:r>
              <a:rPr sz="1400" b="0">
                <a:solidFill>
                  <a:srgbClr val="63777F"/>
                </a:solidFill>
                <a:latin typeface="Verdana"/>
              </a:rPr>
              <a:t>predicted from logged periods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977639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43D5E8"/>
                </a:solidFill>
                <a:latin typeface="Verdan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6776" y="4023359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2242C"/>
                </a:solidFill>
                <a:latin typeface="Verdana"/>
              </a:rPr>
              <a:t>An LH Peak</a:t>
            </a:r>
          </a:p>
          <a:p>
            <a:pPr algn="l"/>
            <a:r>
              <a:rPr sz="1400" b="0">
                <a:solidFill>
                  <a:srgbClr val="63777F"/>
                </a:solidFill>
                <a:latin typeface="Verdana"/>
              </a:rPr>
              <a:t>moves the ovulation estimate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49377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43D5E8"/>
                </a:solidFill>
                <a:latin typeface="Verdan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6776" y="498348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2242C"/>
                </a:solidFill>
                <a:latin typeface="Verdana"/>
              </a:rPr>
              <a:t>Urine trends</a:t>
            </a:r>
          </a:p>
          <a:p>
            <a:pPr algn="l"/>
            <a:r>
              <a:rPr sz="1400" b="0">
                <a:solidFill>
                  <a:srgbClr val="63777F"/>
                </a:solidFill>
                <a:latin typeface="Verdana"/>
              </a:rPr>
              <a:t>across screenings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5065776" cy="402336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Calendar screen with menstrual, follicular, ovulation and luteal phases" descr="image-7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212848"/>
            <a:ext cx="1783080" cy="3611880"/>
          </a:xfrm>
          <a:prstGeom prst="rect">
            <a:avLst/>
          </a:prstGeom>
        </p:spPr>
      </p:pic>
      <p:pic>
        <p:nvPicPr>
          <p:cNvPr id="15" name="LH trend chart: T/C ratio rises above the 1.0 peak line, then falls" descr="image-7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2986688"/>
            <a:ext cx="2596896" cy="20641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2376" y="758952"/>
            <a:ext cx="1074420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2242C"/>
                </a:solidFill>
                <a:latin typeface="Verdana"/>
              </a:rPr>
              <a:t>Technology &amp; Medium</a:t>
            </a:r>
          </a:p>
        </p:txBody>
      </p:sp>
      <p:sp>
        <p:nvSpPr>
          <p:cNvPr id="3" name="Divider"/>
          <p:cNvSpPr/>
          <p:nvPr/>
        </p:nvSpPr>
        <p:spPr>
          <a:xfrm>
            <a:off x="722376" y="1762048"/>
            <a:ext cx="10744200" cy="9509"/>
          </a:xfrm>
          <a:prstGeom prst="rect">
            <a:avLst/>
          </a:prstGeom>
          <a:solidFill>
            <a:srgbClr val="DD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Footer"/>
          <p:cNvSpPr txBox="1"/>
          <p:nvPr/>
        </p:nvSpPr>
        <p:spPr>
          <a:xfrm>
            <a:off x="722376" y="6286500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3777F"/>
                </a:solidFill>
                <a:latin typeface="Verdana"/>
              </a:rPr>
              <a:t>ECE  /  VVCE, MYSURU   ·   Medium: any smartphone with a camera and a modern browser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378440" y="6286500"/>
            <a:ext cx="10881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63777F"/>
                </a:solidFill>
                <a:latin typeface="Verdana"/>
              </a:rPr>
              <a:t>08 / 15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722376" y="1938528"/>
            <a:ext cx="10744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12242C"/>
                </a:solidFill>
                <a:latin typeface="Verdana"/>
              </a:rPr>
              <a:t>A phone browser and a pharmacy strip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2376" y="2560320"/>
          <a:ext cx="10744200" cy="33649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800100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43D5E8"/>
                          </a:solidFill>
                          <a:latin typeface="Verdana"/>
                        </a:rPr>
                        <a:t>Layer</a:t>
                      </a:r>
                    </a:p>
                  </a:txBody>
                  <a:tcPr marL="137160" marR="137160" marT="45720" marB="45720" anchor="ctr">
                    <a:solidFill>
                      <a:srgbClr val="1224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43D5E8"/>
                          </a:solidFill>
                          <a:latin typeface="Verdana"/>
                        </a:rPr>
                        <a:t>Technology</a:t>
                      </a:r>
                    </a:p>
                  </a:txBody>
                  <a:tcPr marL="137160" marR="137160" marT="45720" marB="45720" anchor="ctr">
                    <a:solidFill>
                      <a:srgbClr val="12242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42C"/>
                          </a:solidFill>
                          <a:latin typeface="Verdana"/>
                        </a:rPr>
                        <a:t>Front end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63777F"/>
                          </a:solidFill>
                          <a:latin typeface="Verdana"/>
                        </a:rPr>
                        <a:t>React 18, TypeScript, Vite, Tailwind CSS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42C"/>
                          </a:solidFill>
                          <a:latin typeface="Verdana"/>
                        </a:rPr>
                        <a:t>Camera</a:t>
                      </a:r>
                    </a:p>
                  </a:txBody>
                  <a:tcPr marL="137160" marR="13716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63777F"/>
                          </a:solidFill>
                          <a:latin typeface="Verdana"/>
                        </a:rPr>
                        <a:t>WebRTC getUserMedia, HTML Canvas</a:t>
                      </a:r>
                    </a:p>
                  </a:txBody>
                  <a:tcPr marL="137160" marR="137160" marT="45720" marB="45720" anchor="ctr">
                    <a:solidFill>
                      <a:srgbClr val="F0F5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42C"/>
                          </a:solidFill>
                          <a:latin typeface="Verdana"/>
                        </a:rPr>
                        <a:t>Image analysis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63777F"/>
                          </a:solidFill>
                          <a:latin typeface="Verdana"/>
                        </a:rPr>
                        <a:t>Own TypeScript pipeline in a Web Worker: PCA, CIEDE2000, optical density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42C"/>
                          </a:solidFill>
                          <a:latin typeface="Verdana"/>
                        </a:rPr>
                        <a:t>AI models</a:t>
                      </a:r>
                    </a:p>
                  </a:txBody>
                  <a:tcPr marL="137160" marR="13716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63777F"/>
                          </a:solidFill>
                          <a:latin typeface="Verdana"/>
                        </a:rPr>
                        <a:t>Two YOLO26s detectors trained on Roboflow (831 and 823 images)</a:t>
                      </a:r>
                    </a:p>
                  </a:txBody>
                  <a:tcPr marL="137160" marR="137160" marT="45720" marB="45720" anchor="ctr">
                    <a:solidFill>
                      <a:srgbClr val="F0F5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42C"/>
                          </a:solidFill>
                          <a:latin typeface="Verdana"/>
                        </a:rPr>
                        <a:t>Charts and maps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63777F"/>
                          </a:solidFill>
                          <a:latin typeface="Verdana"/>
                        </a:rPr>
                        <a:t>Chart.js; Leaflet with OpenStreetMap, Nominatim, Overpass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42C"/>
                          </a:solidFill>
                          <a:latin typeface="Verdana"/>
                        </a:rPr>
                        <a:t>Storage</a:t>
                      </a:r>
                    </a:p>
                  </a:txBody>
                  <a:tcPr marL="137160" marR="13716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63777F"/>
                          </a:solidFill>
                          <a:latin typeface="Verdana"/>
                        </a:rPr>
                        <a:t>Browser localStorage, on the device only</a:t>
                      </a:r>
                    </a:p>
                  </a:txBody>
                  <a:tcPr marL="137160" marR="137160" marT="45720" marB="45720" anchor="ctr">
                    <a:solidFill>
                      <a:srgbClr val="F0F5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42C"/>
                          </a:solidFill>
                          <a:latin typeface="Verdana"/>
                        </a:rPr>
                        <a:t>Hosting and testing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63777F"/>
                          </a:solidFill>
                          <a:latin typeface="Verdana"/>
                        </a:rPr>
                        <a:t>GitHub Pages and Actions; Vitest and Playwright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2376" y="758952"/>
            <a:ext cx="1074420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2242C"/>
                </a:solidFill>
                <a:latin typeface="Verdana"/>
              </a:rPr>
              <a:t>AI Model Accuracy</a:t>
            </a:r>
          </a:p>
        </p:txBody>
      </p:sp>
      <p:sp>
        <p:nvSpPr>
          <p:cNvPr id="3" name="Divider"/>
          <p:cNvSpPr/>
          <p:nvPr/>
        </p:nvSpPr>
        <p:spPr>
          <a:xfrm>
            <a:off x="722376" y="1762048"/>
            <a:ext cx="10744200" cy="9509"/>
          </a:xfrm>
          <a:prstGeom prst="rect">
            <a:avLst/>
          </a:prstGeom>
          <a:solidFill>
            <a:srgbClr val="DD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Footer"/>
          <p:cNvSpPr txBox="1"/>
          <p:nvPr/>
        </p:nvSpPr>
        <p:spPr>
          <a:xfrm>
            <a:off x="722376" y="6286500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3777F"/>
                </a:solidFill>
                <a:latin typeface="Verdana"/>
              </a:rPr>
              <a:t>ECE  /  VVCE, MYSURU   ·   Source: Roboflow model evaluations, version 1 of each model (YOLO26s)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378440" y="6286500"/>
            <a:ext cx="10881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63777F"/>
                </a:solidFill>
                <a:latin typeface="Verdana"/>
              </a:rPr>
              <a:t>09 / 15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722376" y="1938528"/>
            <a:ext cx="10744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12242C"/>
                </a:solidFill>
                <a:latin typeface="Verdana"/>
              </a:rPr>
              <a:t>Both models find the right parts of the photo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2606040"/>
            <a:ext cx="3398520" cy="2194560"/>
          </a:xfrm>
          <a:prstGeom prst="roundRect">
            <a:avLst>
              <a:gd name="adj" fmla="val 6000"/>
            </a:avLst>
          </a:prstGeom>
          <a:solidFill>
            <a:srgbClr val="03070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788920"/>
            <a:ext cx="2849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43D5E8"/>
                </a:solidFill>
                <a:latin typeface="Verdana"/>
              </a:rPr>
              <a:t>94.5%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3657600"/>
            <a:ext cx="2849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Verdana"/>
              </a:rPr>
              <a:t>Urine pad detector</a:t>
            </a:r>
          </a:p>
          <a:p>
            <a:pPr algn="l"/>
            <a:r>
              <a:rPr sz="1200" b="0">
                <a:solidFill>
                  <a:srgbClr val="D5E0E2"/>
                </a:solidFill>
                <a:latin typeface="Verdana"/>
              </a:rPr>
              <a:t>mAP@50 over its 11 classes, on 49 unseen test images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5216" y="2606040"/>
            <a:ext cx="3398520" cy="2194560"/>
          </a:xfrm>
          <a:prstGeom prst="roundRect">
            <a:avLst>
              <a:gd name="adj" fmla="val 6000"/>
            </a:avLst>
          </a:prstGeom>
          <a:solidFill>
            <a:srgbClr val="03070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9536" y="2788920"/>
            <a:ext cx="2849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43D5E8"/>
                </a:solidFill>
                <a:latin typeface="Verdana"/>
              </a:rPr>
              <a:t>98.8%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9536" y="3657600"/>
            <a:ext cx="2849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Verdana"/>
              </a:rPr>
              <a:t>Test-kit type detector</a:t>
            </a:r>
          </a:p>
          <a:p>
            <a:pPr algn="l"/>
            <a:r>
              <a:rPr sz="1200" b="0">
                <a:solidFill>
                  <a:srgbClr val="D5E0E2"/>
                </a:solidFill>
                <a:latin typeface="Verdana"/>
              </a:rPr>
              <a:t>mAP@50 over 9 kit types, on 48 unseen test images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8056" y="2606040"/>
            <a:ext cx="3398520" cy="2194560"/>
          </a:xfrm>
          <a:prstGeom prst="roundRect">
            <a:avLst>
              <a:gd name="adj" fmla="val 6000"/>
            </a:avLst>
          </a:prstGeom>
          <a:solidFill>
            <a:srgbClr val="03070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2376" y="2788920"/>
            <a:ext cx="2849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43D5E8"/>
                </a:solidFill>
                <a:latin typeface="Verdana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2376" y="3657600"/>
            <a:ext cx="2849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Verdana"/>
              </a:rPr>
              <a:t>Ovulation tests found</a:t>
            </a:r>
          </a:p>
          <a:p>
            <a:pPr algn="l"/>
            <a:r>
              <a:rPr sz="1200" b="0">
                <a:solidFill>
                  <a:srgbClr val="D5E0E2"/>
                </a:solidFill>
                <a:latin typeface="Verdana"/>
              </a:rPr>
              <a:t>Precision and recall in the test set; no errors seen in 48 images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" y="5029200"/>
            <a:ext cx="10744200" cy="86868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5029200"/>
            <a:ext cx="10195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2242C"/>
                </a:solidFill>
                <a:latin typeface="Verdana"/>
              </a:rPr>
              <a:t>This is detection accuracy, not clinical accuracy. </a:t>
            </a:r>
            <a:r>
              <a:rPr sz="1300" b="0">
                <a:solidFill>
                  <a:srgbClr val="63777F"/>
                </a:solidFill>
                <a:latin typeface="Verdana"/>
              </a:rPr>
              <a:t>Weakest class: nitrite (recall 66.7%). Colour readings still need a comparison with lab tests.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2376" y="758952"/>
            <a:ext cx="1074420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2242C"/>
                </a:solidFill>
                <a:latin typeface="Verdana"/>
              </a:rPr>
              <a:t>Innovation</a:t>
            </a:r>
          </a:p>
        </p:txBody>
      </p:sp>
      <p:sp>
        <p:nvSpPr>
          <p:cNvPr id="3" name="Divider"/>
          <p:cNvSpPr/>
          <p:nvPr/>
        </p:nvSpPr>
        <p:spPr>
          <a:xfrm>
            <a:off x="722376" y="1762048"/>
            <a:ext cx="10744200" cy="9509"/>
          </a:xfrm>
          <a:prstGeom prst="rect">
            <a:avLst/>
          </a:prstGeom>
          <a:solidFill>
            <a:srgbClr val="DD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Footer"/>
          <p:cNvSpPr txBox="1"/>
          <p:nvPr/>
        </p:nvSpPr>
        <p:spPr>
          <a:xfrm>
            <a:off x="722376" y="6286500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3777F"/>
                </a:solidFill>
                <a:latin typeface="Verdana"/>
              </a:rPr>
              <a:t>ECE  /  VVCE, MYSURU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378440" y="6286500"/>
            <a:ext cx="10881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63777F"/>
                </a:solidFill>
                <a:latin typeface="Verdana"/>
              </a:rPr>
              <a:t>10 / 15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722376" y="1938528"/>
            <a:ext cx="10744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12242C"/>
                </a:solidFill>
                <a:latin typeface="Verdana"/>
              </a:rPr>
              <a:t>What is new about Lumenova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514600"/>
            <a:ext cx="433425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2242C"/>
                </a:solidFill>
                <a:latin typeface="Verdana"/>
              </a:rPr>
              <a:t>No reader 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0952" y="2514600"/>
            <a:ext cx="613562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63777F"/>
                </a:solidFill>
                <a:latin typeface="Verdana"/>
              </a:rPr>
              <a:t>Uses the phone people already own, in a browser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3012948"/>
            <a:ext cx="10744200" cy="9509"/>
          </a:xfrm>
          <a:prstGeom prst="rect">
            <a:avLst/>
          </a:prstGeom>
          <a:solidFill>
            <a:srgbClr val="DD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3081528"/>
            <a:ext cx="433425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2242C"/>
                </a:solidFill>
                <a:latin typeface="Verdana"/>
              </a:rPr>
              <a:t>Any angle, any 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0952" y="3081528"/>
            <a:ext cx="613562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63777F"/>
                </a:solidFill>
                <a:latin typeface="Verdana"/>
              </a:rPr>
              <a:t>PCA finds the strip; no calibration card needed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" y="3579876"/>
            <a:ext cx="10744200" cy="9509"/>
          </a:xfrm>
          <a:prstGeom prst="rect">
            <a:avLst/>
          </a:prstGeom>
          <a:solidFill>
            <a:srgbClr val="DD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3648456"/>
            <a:ext cx="433425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2242C"/>
                </a:solidFill>
                <a:latin typeface="Verdana"/>
              </a:rPr>
              <a:t>Self-calibrating colour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3648456"/>
            <a:ext cx="613562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63777F"/>
                </a:solidFill>
                <a:latin typeface="Verdana"/>
              </a:rPr>
              <a:t>Each pad is white-balanced against the strip's own backing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" y="4146804"/>
            <a:ext cx="10744200" cy="9509"/>
          </a:xfrm>
          <a:prstGeom prst="rect">
            <a:avLst/>
          </a:prstGeom>
          <a:solidFill>
            <a:srgbClr val="DD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4215383"/>
            <a:ext cx="433425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2242C"/>
                </a:solidFill>
                <a:latin typeface="Verdana"/>
              </a:rPr>
              <a:t>Explainable hybrid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4215383"/>
            <a:ext cx="613562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63777F"/>
                </a:solidFill>
                <a:latin typeface="Verdana"/>
              </a:rPr>
              <a:t>YOLO26s finds the pads; CIEDE2000 colour science reads them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" y="4713731"/>
            <a:ext cx="10744200" cy="9509"/>
          </a:xfrm>
          <a:prstGeom prst="rect">
            <a:avLst/>
          </a:prstGeom>
          <a:solidFill>
            <a:srgbClr val="DD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4782312"/>
            <a:ext cx="433425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2242C"/>
                </a:solidFill>
                <a:latin typeface="Verdana"/>
              </a:rPr>
              <a:t>Honest about uncertainty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4782312"/>
            <a:ext cx="613562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63777F"/>
                </a:solidFill>
                <a:latin typeface="Verdana"/>
              </a:rPr>
              <a:t>Per-pad confidence, and "unreadable" instead of a guess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" y="5280660"/>
            <a:ext cx="10744200" cy="9509"/>
          </a:xfrm>
          <a:prstGeom prst="rect">
            <a:avLst/>
          </a:prstGeom>
          <a:solidFill>
            <a:srgbClr val="DD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5349240"/>
            <a:ext cx="433425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2242C"/>
                </a:solidFill>
                <a:latin typeface="Verdana"/>
              </a:rPr>
              <a:t>From result to care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0952" y="5349240"/>
            <a:ext cx="613562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63777F"/>
                </a:solidFill>
                <a:latin typeface="Verdana"/>
              </a:rPr>
              <a:t>A map of nearby clinics, hospitals and pharmacies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2376" y="758952"/>
            <a:ext cx="1074420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2242C"/>
                </a:solidFill>
                <a:latin typeface="Verdana"/>
              </a:rPr>
              <a:t>Risks &amp; Safeguards</a:t>
            </a:r>
          </a:p>
        </p:txBody>
      </p:sp>
      <p:sp>
        <p:nvSpPr>
          <p:cNvPr id="3" name="Divider"/>
          <p:cNvSpPr/>
          <p:nvPr/>
        </p:nvSpPr>
        <p:spPr>
          <a:xfrm>
            <a:off x="722376" y="1762048"/>
            <a:ext cx="10744200" cy="9509"/>
          </a:xfrm>
          <a:prstGeom prst="rect">
            <a:avLst/>
          </a:prstGeom>
          <a:solidFill>
            <a:srgbClr val="DD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Footer"/>
          <p:cNvSpPr txBox="1"/>
          <p:nvPr/>
        </p:nvSpPr>
        <p:spPr>
          <a:xfrm>
            <a:off x="722376" y="6286500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3777F"/>
                </a:solidFill>
                <a:latin typeface="Verdana"/>
              </a:rPr>
              <a:t>ECE  /  VVCE, MYSURU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378440" y="6286500"/>
            <a:ext cx="10881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63777F"/>
                </a:solidFill>
                <a:latin typeface="Verdana"/>
              </a:rPr>
              <a:t>11 / 15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722376" y="1938528"/>
            <a:ext cx="10744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12242C"/>
                </a:solidFill>
                <a:latin typeface="Verdana"/>
              </a:rPr>
              <a:t>Each known risk has a safeguard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2376" y="2560320"/>
          <a:ext cx="10744200" cy="33649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40"/>
                <a:gridCol w="653796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43D5E8"/>
                          </a:solidFill>
                          <a:latin typeface="Verdana"/>
                        </a:rPr>
                        <a:t>Risk</a:t>
                      </a:r>
                    </a:p>
                  </a:txBody>
                  <a:tcPr marL="137160" marR="137160" marT="45720" marB="45720" anchor="ctr">
                    <a:solidFill>
                      <a:srgbClr val="1224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43D5E8"/>
                          </a:solidFill>
                          <a:latin typeface="Verdana"/>
                        </a:rPr>
                        <a:t>How it is reduced</a:t>
                      </a:r>
                    </a:p>
                  </a:txBody>
                  <a:tcPr marL="137160" marR="137160" marT="45720" marB="45720" anchor="ctr">
                    <a:solidFill>
                      <a:srgbClr val="12242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42C"/>
                          </a:solidFill>
                          <a:latin typeface="Verdana"/>
                        </a:rPr>
                        <a:t>Wrong reading (light, blur, brand)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63777F"/>
                          </a:solidFill>
                          <a:latin typeface="Verdana"/>
                        </a:rPr>
                        <a:t>Quality gate, white balance, per-pad confidence, "unreadable"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42C"/>
                          </a:solidFill>
                          <a:latin typeface="Verdana"/>
                        </a:rPr>
                        <a:t>Mistaken for a diagnosis</a:t>
                      </a:r>
                    </a:p>
                  </a:txBody>
                  <a:tcPr marL="137160" marR="13716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63777F"/>
                          </a:solidFill>
                          <a:latin typeface="Verdana"/>
                        </a:rPr>
                        <a:t>Non-diagnostic wording; disclaimer on every result</a:t>
                      </a:r>
                    </a:p>
                  </a:txBody>
                  <a:tcPr marL="137160" marR="137160" marT="45720" marB="45720" anchor="ctr">
                    <a:solidFill>
                      <a:srgbClr val="F0F5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42C"/>
                          </a:solidFill>
                          <a:latin typeface="Verdana"/>
                        </a:rPr>
                        <a:t>Colour reading not yet validated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63777F"/>
                          </a:solidFill>
                          <a:latin typeface="Verdana"/>
                        </a:rPr>
                        <a:t>Screening aid only; lab comparison study planned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42C"/>
                          </a:solidFill>
                          <a:latin typeface="Verdana"/>
                        </a:rPr>
                        <a:t>Small training sets (about 830 images)</a:t>
                      </a:r>
                    </a:p>
                  </a:txBody>
                  <a:tcPr marL="137160" marR="13716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63777F"/>
                          </a:solidFill>
                          <a:latin typeface="Verdana"/>
                        </a:rPr>
                        <a:t>Collect varied images and retrain; on-device fallback</a:t>
                      </a:r>
                    </a:p>
                  </a:txBody>
                  <a:tcPr marL="137160" marR="137160" marT="45720" marB="45720" anchor="ctr">
                    <a:solidFill>
                      <a:srgbClr val="F0F5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42C"/>
                          </a:solidFill>
                          <a:latin typeface="Verdana"/>
                        </a:rPr>
                        <a:t>Privacy of health data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63777F"/>
                          </a:solidFill>
                          <a:latin typeface="Verdana"/>
                        </a:rPr>
                        <a:t>No account or server; photos never stored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42C"/>
                          </a:solidFill>
                          <a:latin typeface="Verdana"/>
                        </a:rPr>
                        <a:t>Free third-party services fail</a:t>
                      </a:r>
                    </a:p>
                  </a:txBody>
                  <a:tcPr marL="137160" marR="13716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63777F"/>
                          </a:solidFill>
                          <a:latin typeface="Verdana"/>
                        </a:rPr>
                        <a:t>On-device fallback and clear error messages</a:t>
                      </a:r>
                    </a:p>
                  </a:txBody>
                  <a:tcPr marL="137160" marR="137160" marT="45720" marB="45720" anchor="ctr">
                    <a:solidFill>
                      <a:srgbClr val="F0F5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42C"/>
                          </a:solidFill>
                          <a:latin typeface="Verdana"/>
                        </a:rPr>
                        <a:t>Regulation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63777F"/>
                          </a:solidFill>
                          <a:latin typeface="Verdana"/>
                        </a:rPr>
                        <a:t>Stays a wellness aid; a diagnostic claim needs CDSCO approval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2376" y="758952"/>
            <a:ext cx="1074420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2242C"/>
                </a:solidFill>
                <a:latin typeface="Verdana"/>
              </a:rPr>
              <a:t>Expected Impact</a:t>
            </a:r>
          </a:p>
        </p:txBody>
      </p:sp>
      <p:sp>
        <p:nvSpPr>
          <p:cNvPr id="3" name="Divider"/>
          <p:cNvSpPr/>
          <p:nvPr/>
        </p:nvSpPr>
        <p:spPr>
          <a:xfrm>
            <a:off x="722376" y="1762048"/>
            <a:ext cx="10744200" cy="9509"/>
          </a:xfrm>
          <a:prstGeom prst="rect">
            <a:avLst/>
          </a:prstGeom>
          <a:solidFill>
            <a:srgbClr val="DD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Footer"/>
          <p:cNvSpPr txBox="1"/>
          <p:nvPr/>
        </p:nvSpPr>
        <p:spPr>
          <a:xfrm>
            <a:off x="722376" y="6286500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3777F"/>
                </a:solidFill>
                <a:latin typeface="Verdana"/>
              </a:rPr>
              <a:t>ECE  /  VVCE, MYSURU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378440" y="6286500"/>
            <a:ext cx="10881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63777F"/>
                </a:solidFill>
                <a:latin typeface="Verdana"/>
              </a:rPr>
              <a:t>12 / 15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722376" y="1938528"/>
            <a:ext cx="10744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12242C"/>
                </a:solidFill>
                <a:latin typeface="Verdana"/>
              </a:rPr>
              <a:t>Healthier choices, lower costs, less waste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2606040"/>
            <a:ext cx="3398520" cy="333756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2788920"/>
            <a:ext cx="566928" cy="566928"/>
          </a:xfrm>
          <a:prstGeom prst="ellipse">
            <a:avLst/>
          </a:prstGeom>
          <a:solidFill>
            <a:srgbClr val="1224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Icon image-12-1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038" y="2924982"/>
            <a:ext cx="294802" cy="2948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82496" y="2788920"/>
            <a:ext cx="2209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2242C"/>
                </a:solidFill>
                <a:latin typeface="Verdana"/>
              </a:rPr>
              <a:t>Social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566160"/>
            <a:ext cx="2941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63777F"/>
                </a:solidFill>
                <a:latin typeface="Verdana"/>
              </a:rPr>
              <a:t>Earlier visits when a result is flagged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63777F"/>
                </a:solidFill>
                <a:latin typeface="Verdana"/>
              </a:rPr>
              <a:t>Better women's health literacy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63777F"/>
                </a:solidFill>
                <a:latin typeface="Verdana"/>
              </a:rPr>
              <a:t>Private testing at home, with dignity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63777F"/>
                </a:solidFill>
                <a:latin typeface="Verdana"/>
              </a:rPr>
              <a:t>Reaches areas far from labs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5216" y="2606040"/>
            <a:ext cx="3398520" cy="333756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23816" y="2788920"/>
            <a:ext cx="566928" cy="566928"/>
          </a:xfrm>
          <a:prstGeom prst="ellipse">
            <a:avLst/>
          </a:prstGeom>
          <a:solidFill>
            <a:srgbClr val="1224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Icon image-12-2.png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878" y="2924982"/>
            <a:ext cx="294802" cy="29480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55336" y="2788920"/>
            <a:ext cx="2209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2242C"/>
                </a:solidFill>
                <a:latin typeface="Verdana"/>
              </a:rPr>
              <a:t>Economic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3816" y="3566160"/>
            <a:ext cx="2941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63777F"/>
                </a:solidFill>
                <a:latin typeface="Verdana"/>
              </a:rPr>
              <a:t>Free app; tests cost only the strip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63777F"/>
                </a:solidFill>
                <a:latin typeface="Verdana"/>
              </a:rPr>
              <a:t>Fewer unnecessary trips and lost wages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63777F"/>
                </a:solidFill>
                <a:latin typeface="Verdana"/>
              </a:rPr>
              <a:t>Fewer ovulation strips wasted on misreads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63777F"/>
                </a:solidFill>
                <a:latin typeface="Verdana"/>
              </a:rPr>
              <a:t>Near-zero running cost at scale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8056" y="2606040"/>
            <a:ext cx="3398520" cy="333756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96656" y="2788920"/>
            <a:ext cx="566928" cy="566928"/>
          </a:xfrm>
          <a:prstGeom prst="ellipse">
            <a:avLst/>
          </a:prstGeom>
          <a:solidFill>
            <a:srgbClr val="1224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Icon image-12-3.png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718" y="2924982"/>
            <a:ext cx="294802" cy="29480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28176" y="2788920"/>
            <a:ext cx="2209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2242C"/>
                </a:solidFill>
                <a:latin typeface="Verdana"/>
              </a:rPr>
              <a:t>Environmental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656" y="3566160"/>
            <a:ext cx="2941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63777F"/>
                </a:solidFill>
                <a:latin typeface="Verdana"/>
              </a:rPr>
              <a:t>No extra hardware to make or dispose of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63777F"/>
                </a:solidFill>
                <a:latin typeface="Verdana"/>
              </a:rPr>
              <a:t>Paperless records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63777F"/>
                </a:solidFill>
                <a:latin typeface="Verdana"/>
              </a:rPr>
              <a:t>Fewer journeys for routine checks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63777F"/>
                </a:solidFill>
                <a:latin typeface="Verdana"/>
              </a:rPr>
              <a:t>No always-on server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2376" y="758952"/>
            <a:ext cx="1074420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2242C"/>
                </a:solidFill>
                <a:latin typeface="Verdana"/>
              </a:rPr>
              <a:t>Estimated Cost</a:t>
            </a:r>
          </a:p>
        </p:txBody>
      </p:sp>
      <p:sp>
        <p:nvSpPr>
          <p:cNvPr id="3" name="Divider"/>
          <p:cNvSpPr/>
          <p:nvPr/>
        </p:nvSpPr>
        <p:spPr>
          <a:xfrm>
            <a:off x="722376" y="1762048"/>
            <a:ext cx="10744200" cy="9509"/>
          </a:xfrm>
          <a:prstGeom prst="rect">
            <a:avLst/>
          </a:prstGeom>
          <a:solidFill>
            <a:srgbClr val="DD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Footer"/>
          <p:cNvSpPr txBox="1"/>
          <p:nvPr/>
        </p:nvSpPr>
        <p:spPr>
          <a:xfrm>
            <a:off x="722376" y="6286500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3777F"/>
                </a:solidFill>
                <a:latin typeface="Verdana"/>
              </a:rPr>
              <a:t>ECE  /  VVCE, MYSURU   ·   Strip prices are retail prices paid; other figures are estimates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378440" y="6286500"/>
            <a:ext cx="10881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63777F"/>
                </a:solidFill>
                <a:latin typeface="Verdana"/>
              </a:rPr>
              <a:t>13 / 15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722376" y="1938528"/>
            <a:ext cx="10744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12242C"/>
                </a:solidFill>
                <a:latin typeface="Verdana"/>
              </a:rPr>
              <a:t>The prototype cost ₹955 in test strips; the software was free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2606040"/>
            <a:ext cx="2480310" cy="178308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743200"/>
            <a:ext cx="21145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E7C8B"/>
                </a:solidFill>
                <a:latin typeface="Verdana"/>
              </a:rPr>
              <a:t>₹0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474720"/>
            <a:ext cx="211455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Software, AI training, hosting and maps (free tiers)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7006" y="2606040"/>
            <a:ext cx="2480310" cy="178308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8174" y="2743200"/>
            <a:ext cx="21145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E7C8B"/>
                </a:solidFill>
                <a:latin typeface="Verdana"/>
              </a:rPr>
              <a:t>₹955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8174" y="3474720"/>
            <a:ext cx="211455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Strips: Keto-Diastix ₹315 (50), ovulation strips ₹590 (50), ovulation kit ₹50 (5)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2606040"/>
            <a:ext cx="2480310" cy="178308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2803" y="2743200"/>
            <a:ext cx="21145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E7C8B"/>
                </a:solidFill>
                <a:latin typeface="Verdana"/>
              </a:rPr>
              <a:t>₹6.30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2803" y="3474720"/>
            <a:ext cx="211455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Per urine test to the user (Keto-Diastix strip)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2606040"/>
            <a:ext cx="2480310" cy="1783080"/>
          </a:xfrm>
          <a:prstGeom prst="roundRect">
            <a:avLst>
              <a:gd name="adj" fmla="val 6000"/>
            </a:avLst>
          </a:prstGeom>
          <a:solidFill>
            <a:srgbClr val="F0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7434" y="2743200"/>
            <a:ext cx="21145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E7C8B"/>
                </a:solidFill>
                <a:latin typeface="Verdana"/>
              </a:rPr>
              <a:t>₹10–12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7434" y="3474720"/>
            <a:ext cx="211455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3777F"/>
                </a:solidFill>
                <a:latin typeface="Verdana"/>
              </a:rPr>
              <a:t>Per ovulation test to the user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4663440"/>
            <a:ext cx="10744200" cy="1097280"/>
          </a:xfrm>
          <a:prstGeom prst="roundRect">
            <a:avLst>
              <a:gd name="adj" fmla="val 6000"/>
            </a:avLst>
          </a:prstGeom>
          <a:solidFill>
            <a:srgbClr val="03070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663440"/>
            <a:ext cx="101955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3D5E8"/>
                </a:solidFill>
                <a:latin typeface="Verdana"/>
              </a:rPr>
              <a:t>Next stage (pilot year): about ₹22,000 to ₹1,67,000</a:t>
            </a:r>
          </a:p>
          <a:p>
            <a:pPr algn="l"/>
            <a:r>
              <a:rPr sz="1200" b="0">
                <a:solidFill>
                  <a:srgbClr val="D5E0E2"/>
                </a:solidFill>
                <a:latin typeface="Verdana"/>
              </a:rPr>
              <a:t>Mostly a lab comparison study (about 200 samples), plus Roboflow's paid plan if data must be private. Estimates, not quotes.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2376" y="758952"/>
            <a:ext cx="1074420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2242C"/>
                </a:solidFill>
                <a:latin typeface="Verdana"/>
              </a:rPr>
              <a:t>Future Scope</a:t>
            </a:r>
          </a:p>
        </p:txBody>
      </p:sp>
      <p:sp>
        <p:nvSpPr>
          <p:cNvPr id="3" name="Divider"/>
          <p:cNvSpPr/>
          <p:nvPr/>
        </p:nvSpPr>
        <p:spPr>
          <a:xfrm>
            <a:off x="722376" y="1762048"/>
            <a:ext cx="10744200" cy="9509"/>
          </a:xfrm>
          <a:prstGeom prst="rect">
            <a:avLst/>
          </a:prstGeom>
          <a:solidFill>
            <a:srgbClr val="DD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Footer"/>
          <p:cNvSpPr txBox="1"/>
          <p:nvPr/>
        </p:nvSpPr>
        <p:spPr>
          <a:xfrm>
            <a:off x="722376" y="6286500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3777F"/>
                </a:solidFill>
                <a:latin typeface="Verdana"/>
              </a:rPr>
              <a:t>ECE  /  VVCE, MYSURU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378440" y="6286500"/>
            <a:ext cx="10881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63777F"/>
                </a:solidFill>
                <a:latin typeface="Verdana"/>
              </a:rPr>
              <a:t>14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240280"/>
            <a:ext cx="43342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12242C"/>
                </a:solidFill>
                <a:latin typeface="Verdana"/>
              </a:rPr>
              <a:t>Next strip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0952" y="2240280"/>
            <a:ext cx="61356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3777F"/>
                </a:solidFill>
                <a:latin typeface="Verdana"/>
              </a:rPr>
              <a:t>Support Keto-Diastix strips (glucose and ketones)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" y="2907792"/>
            <a:ext cx="10744200" cy="9509"/>
          </a:xfrm>
          <a:prstGeom prst="rect">
            <a:avLst/>
          </a:prstGeom>
          <a:solidFill>
            <a:srgbClr val="DD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3154680"/>
            <a:ext cx="43342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12242C"/>
                </a:solidFill>
                <a:latin typeface="Verdana"/>
              </a:rPr>
              <a:t>Clinical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0952" y="3154680"/>
            <a:ext cx="61356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3777F"/>
                </a:solidFill>
                <a:latin typeface="Verdana"/>
              </a:rPr>
              <a:t>Compare readings with laboratory urinalysis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" y="3822191"/>
            <a:ext cx="10744200" cy="9509"/>
          </a:xfrm>
          <a:prstGeom prst="rect">
            <a:avLst/>
          </a:prstGeom>
          <a:solidFill>
            <a:srgbClr val="DD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4069080"/>
            <a:ext cx="43342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12242C"/>
                </a:solidFill>
                <a:latin typeface="Verdana"/>
              </a:rPr>
              <a:t>Ways to expand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0952" y="4069080"/>
            <a:ext cx="61356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3777F"/>
                </a:solidFill>
                <a:latin typeface="Verdana"/>
              </a:rPr>
              <a:t>More training images, brands and languages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" y="4736592"/>
            <a:ext cx="10744200" cy="9509"/>
          </a:xfrm>
          <a:prstGeom prst="rect">
            <a:avLst/>
          </a:prstGeom>
          <a:solidFill>
            <a:srgbClr val="DD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4983480"/>
            <a:ext cx="43342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1">
                <a:solidFill>
                  <a:srgbClr val="12242C"/>
                </a:solidFill>
                <a:latin typeface="Verdana"/>
              </a:rPr>
              <a:t>Future 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4983480"/>
            <a:ext cx="61356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3777F"/>
                </a:solidFill>
                <a:latin typeface="Verdana"/>
              </a:rPr>
              <a:t>Consistent strip readings for community health workers on field visits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5715000"/>
            <a:ext cx="1074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242C"/>
                </a:solidFill>
                <a:latin typeface="Verdana"/>
              </a:rPr>
              <a:t>Try it: </a:t>
            </a:r>
            <a:r>
              <a:rPr sz="1400" b="1">
                <a:solidFill>
                  <a:srgbClr val="0E7C8B"/>
                </a:solidFill>
                <a:latin typeface="Verdana"/>
              </a:rPr>
              <a:t>rividyathasathakshi.github.io/demo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